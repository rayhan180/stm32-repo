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58" r:id="rId3"/>
    <p:sldId id="257" r:id="rId4"/>
    <p:sldId id="262" r:id="rId5"/>
    <p:sldId id="260" r:id="rId6"/>
    <p:sldId id="265" r:id="rId7"/>
    <p:sldId id="261" r:id="rId8"/>
    <p:sldId id="259" r:id="rId9"/>
    <p:sldId id="264" r:id="rId10"/>
    <p:sldId id="263" r:id="rId11"/>
    <p:sldId id="274" r:id="rId12"/>
    <p:sldId id="269" r:id="rId13"/>
    <p:sldId id="268" r:id="rId14"/>
    <p:sldId id="276" r:id="rId15"/>
    <p:sldId id="270" r:id="rId16"/>
    <p:sldId id="271" r:id="rId17"/>
    <p:sldId id="272" r:id="rId18"/>
    <p:sldId id="273" r:id="rId19"/>
    <p:sldId id="280" r:id="rId20"/>
    <p:sldId id="289" r:id="rId21"/>
    <p:sldId id="293" r:id="rId22"/>
    <p:sldId id="290" r:id="rId23"/>
    <p:sldId id="294" r:id="rId24"/>
    <p:sldId id="291" r:id="rId25"/>
    <p:sldId id="292" r:id="rId26"/>
    <p:sldId id="288" r:id="rId27"/>
    <p:sldId id="277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6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F16E19-278D-466A-A236-3B3C7E4FB7AA}" type="doc">
      <dgm:prSet loTypeId="urn:microsoft.com/office/officeart/2005/8/layout/hProcess9" loCatId="process" qsTypeId="urn:microsoft.com/office/officeart/2009/2/quickstyle/3d8" qsCatId="3D" csTypeId="urn:microsoft.com/office/officeart/2005/8/colors/accent2_1" csCatId="accent2" phldr="1"/>
      <dgm:spPr/>
    </dgm:pt>
    <dgm:pt modelId="{57CDAEBC-4B3E-46D9-82CF-AE2BC05A9C22}">
      <dgm:prSet phldrT="[Text]"/>
      <dgm:spPr/>
      <dgm:t>
        <a:bodyPr/>
        <a:lstStyle/>
        <a:p>
          <a:r>
            <a:rPr lang="en-US" dirty="0"/>
            <a:t>Write the code in the source file</a:t>
          </a:r>
        </a:p>
      </dgm:t>
    </dgm:pt>
    <dgm:pt modelId="{75608E5A-FB4D-4B1D-8FEA-D923177A2D6E}" type="parTrans" cxnId="{488C9F03-DAAB-47BD-9DDD-32DB63CDA469}">
      <dgm:prSet/>
      <dgm:spPr/>
      <dgm:t>
        <a:bodyPr/>
        <a:lstStyle/>
        <a:p>
          <a:endParaRPr lang="en-US"/>
        </a:p>
      </dgm:t>
    </dgm:pt>
    <dgm:pt modelId="{7E99BDE5-42AA-4FE2-BAE4-AF976BC0FF04}" type="sibTrans" cxnId="{488C9F03-DAAB-47BD-9DDD-32DB63CDA469}">
      <dgm:prSet/>
      <dgm:spPr/>
      <dgm:t>
        <a:bodyPr/>
        <a:lstStyle/>
        <a:p>
          <a:endParaRPr lang="en-US"/>
        </a:p>
      </dgm:t>
    </dgm:pt>
    <dgm:pt modelId="{2B55776C-9539-48D1-BCAC-1A21C518E5DA}">
      <dgm:prSet phldrT="[Text]"/>
      <dgm:spPr/>
      <dgm:t>
        <a:bodyPr/>
        <a:lstStyle/>
        <a:p>
          <a:r>
            <a:rPr lang="en-US" dirty="0"/>
            <a:t>Build project</a:t>
          </a:r>
        </a:p>
      </dgm:t>
    </dgm:pt>
    <dgm:pt modelId="{33193550-65BD-4678-B80E-3ADD197577C1}" type="parTrans" cxnId="{A7419CCC-0326-4B08-A638-DC5C62D8C495}">
      <dgm:prSet/>
      <dgm:spPr/>
      <dgm:t>
        <a:bodyPr/>
        <a:lstStyle/>
        <a:p>
          <a:endParaRPr lang="en-US"/>
        </a:p>
      </dgm:t>
    </dgm:pt>
    <dgm:pt modelId="{9F12F702-5B0E-4BBB-8EF6-3E6BEC5A25D5}" type="sibTrans" cxnId="{A7419CCC-0326-4B08-A638-DC5C62D8C495}">
      <dgm:prSet/>
      <dgm:spPr/>
      <dgm:t>
        <a:bodyPr/>
        <a:lstStyle/>
        <a:p>
          <a:endParaRPr lang="en-US"/>
        </a:p>
      </dgm:t>
    </dgm:pt>
    <dgm:pt modelId="{AEB4BA0A-7D36-4251-83DD-FBBF4AF759C0}">
      <dgm:prSet phldrT="[Text]"/>
      <dgm:spPr/>
      <dgm:t>
        <a:bodyPr/>
        <a:lstStyle/>
        <a:p>
          <a:r>
            <a:rPr lang="en-US" dirty="0"/>
            <a:t>Debug</a:t>
          </a:r>
        </a:p>
      </dgm:t>
    </dgm:pt>
    <dgm:pt modelId="{AEC651FB-FA44-43D4-8D16-B5770918F302}" type="parTrans" cxnId="{B952B4F5-2D80-4F2C-B7AE-8EB468628E6F}">
      <dgm:prSet/>
      <dgm:spPr/>
      <dgm:t>
        <a:bodyPr/>
        <a:lstStyle/>
        <a:p>
          <a:endParaRPr lang="en-US"/>
        </a:p>
      </dgm:t>
    </dgm:pt>
    <dgm:pt modelId="{FF15091A-202C-42B3-874D-E4B6E8BEA516}" type="sibTrans" cxnId="{B952B4F5-2D80-4F2C-B7AE-8EB468628E6F}">
      <dgm:prSet/>
      <dgm:spPr/>
      <dgm:t>
        <a:bodyPr/>
        <a:lstStyle/>
        <a:p>
          <a:endParaRPr lang="en-US"/>
        </a:p>
      </dgm:t>
    </dgm:pt>
    <dgm:pt modelId="{DB5721DE-A04F-41D9-81AE-4957FE703F6B}" type="pres">
      <dgm:prSet presAssocID="{2FF16E19-278D-466A-A236-3B3C7E4FB7AA}" presName="CompostProcess" presStyleCnt="0">
        <dgm:presLayoutVars>
          <dgm:dir/>
          <dgm:resizeHandles val="exact"/>
        </dgm:presLayoutVars>
      </dgm:prSet>
      <dgm:spPr/>
    </dgm:pt>
    <dgm:pt modelId="{C1C56535-FEFD-4133-92D0-99FE3D7EA9F3}" type="pres">
      <dgm:prSet presAssocID="{2FF16E19-278D-466A-A236-3B3C7E4FB7AA}" presName="arrow" presStyleLbl="bgShp" presStyleIdx="0" presStyleCnt="1"/>
      <dgm:spPr/>
    </dgm:pt>
    <dgm:pt modelId="{9FD286D0-ED19-4BB1-B8C1-142F53B01B79}" type="pres">
      <dgm:prSet presAssocID="{2FF16E19-278D-466A-A236-3B3C7E4FB7AA}" presName="linearProcess" presStyleCnt="0"/>
      <dgm:spPr/>
    </dgm:pt>
    <dgm:pt modelId="{19D5637C-8EBD-4B69-BBBC-068C5B640AEE}" type="pres">
      <dgm:prSet presAssocID="{57CDAEBC-4B3E-46D9-82CF-AE2BC05A9C22}" presName="textNode" presStyleLbl="node1" presStyleIdx="0" presStyleCnt="3">
        <dgm:presLayoutVars>
          <dgm:bulletEnabled val="1"/>
        </dgm:presLayoutVars>
      </dgm:prSet>
      <dgm:spPr/>
    </dgm:pt>
    <dgm:pt modelId="{6C9020BF-9B32-470A-A311-5BA87BE1A383}" type="pres">
      <dgm:prSet presAssocID="{7E99BDE5-42AA-4FE2-BAE4-AF976BC0FF04}" presName="sibTrans" presStyleCnt="0"/>
      <dgm:spPr/>
    </dgm:pt>
    <dgm:pt modelId="{28A99040-507C-4B07-ACD4-121394F18B5C}" type="pres">
      <dgm:prSet presAssocID="{2B55776C-9539-48D1-BCAC-1A21C518E5DA}" presName="textNode" presStyleLbl="node1" presStyleIdx="1" presStyleCnt="3">
        <dgm:presLayoutVars>
          <dgm:bulletEnabled val="1"/>
        </dgm:presLayoutVars>
      </dgm:prSet>
      <dgm:spPr/>
    </dgm:pt>
    <dgm:pt modelId="{2465621B-E7BA-4BBA-BA11-14093D2F1C68}" type="pres">
      <dgm:prSet presAssocID="{9F12F702-5B0E-4BBB-8EF6-3E6BEC5A25D5}" presName="sibTrans" presStyleCnt="0"/>
      <dgm:spPr/>
    </dgm:pt>
    <dgm:pt modelId="{92012115-3A18-4362-99F9-42C847A900FA}" type="pres">
      <dgm:prSet presAssocID="{AEB4BA0A-7D36-4251-83DD-FBBF4AF759C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488C9F03-DAAB-47BD-9DDD-32DB63CDA469}" srcId="{2FF16E19-278D-466A-A236-3B3C7E4FB7AA}" destId="{57CDAEBC-4B3E-46D9-82CF-AE2BC05A9C22}" srcOrd="0" destOrd="0" parTransId="{75608E5A-FB4D-4B1D-8FEA-D923177A2D6E}" sibTransId="{7E99BDE5-42AA-4FE2-BAE4-AF976BC0FF04}"/>
    <dgm:cxn modelId="{695CC352-4681-4EC6-A710-2CE49007A571}" type="presOf" srcId="{2FF16E19-278D-466A-A236-3B3C7E4FB7AA}" destId="{DB5721DE-A04F-41D9-81AE-4957FE703F6B}" srcOrd="0" destOrd="0" presId="urn:microsoft.com/office/officeart/2005/8/layout/hProcess9"/>
    <dgm:cxn modelId="{CDDD79AB-E449-462B-8C12-01056BDB566A}" type="presOf" srcId="{AEB4BA0A-7D36-4251-83DD-FBBF4AF759C0}" destId="{92012115-3A18-4362-99F9-42C847A900FA}" srcOrd="0" destOrd="0" presId="urn:microsoft.com/office/officeart/2005/8/layout/hProcess9"/>
    <dgm:cxn modelId="{DDEF39CB-ABCF-472A-8F26-890A01E7F44E}" type="presOf" srcId="{2B55776C-9539-48D1-BCAC-1A21C518E5DA}" destId="{28A99040-507C-4B07-ACD4-121394F18B5C}" srcOrd="0" destOrd="0" presId="urn:microsoft.com/office/officeart/2005/8/layout/hProcess9"/>
    <dgm:cxn modelId="{A7419CCC-0326-4B08-A638-DC5C62D8C495}" srcId="{2FF16E19-278D-466A-A236-3B3C7E4FB7AA}" destId="{2B55776C-9539-48D1-BCAC-1A21C518E5DA}" srcOrd="1" destOrd="0" parTransId="{33193550-65BD-4678-B80E-3ADD197577C1}" sibTransId="{9F12F702-5B0E-4BBB-8EF6-3E6BEC5A25D5}"/>
    <dgm:cxn modelId="{2C8D2CD8-6EC2-48C2-821A-D0B9B89B32D2}" type="presOf" srcId="{57CDAEBC-4B3E-46D9-82CF-AE2BC05A9C22}" destId="{19D5637C-8EBD-4B69-BBBC-068C5B640AEE}" srcOrd="0" destOrd="0" presId="urn:microsoft.com/office/officeart/2005/8/layout/hProcess9"/>
    <dgm:cxn modelId="{B952B4F5-2D80-4F2C-B7AE-8EB468628E6F}" srcId="{2FF16E19-278D-466A-A236-3B3C7E4FB7AA}" destId="{AEB4BA0A-7D36-4251-83DD-FBBF4AF759C0}" srcOrd="2" destOrd="0" parTransId="{AEC651FB-FA44-43D4-8D16-B5770918F302}" sibTransId="{FF15091A-202C-42B3-874D-E4B6E8BEA516}"/>
    <dgm:cxn modelId="{060B7862-AFB2-4FB2-86DA-697A275468C5}" type="presParOf" srcId="{DB5721DE-A04F-41D9-81AE-4957FE703F6B}" destId="{C1C56535-FEFD-4133-92D0-99FE3D7EA9F3}" srcOrd="0" destOrd="0" presId="urn:microsoft.com/office/officeart/2005/8/layout/hProcess9"/>
    <dgm:cxn modelId="{24F27FB3-E454-4E39-A520-1CC650C10F2E}" type="presParOf" srcId="{DB5721DE-A04F-41D9-81AE-4957FE703F6B}" destId="{9FD286D0-ED19-4BB1-B8C1-142F53B01B79}" srcOrd="1" destOrd="0" presId="urn:microsoft.com/office/officeart/2005/8/layout/hProcess9"/>
    <dgm:cxn modelId="{F7FBB9FB-B893-4835-A8EA-6D3CFDDF5C24}" type="presParOf" srcId="{9FD286D0-ED19-4BB1-B8C1-142F53B01B79}" destId="{19D5637C-8EBD-4B69-BBBC-068C5B640AEE}" srcOrd="0" destOrd="0" presId="urn:microsoft.com/office/officeart/2005/8/layout/hProcess9"/>
    <dgm:cxn modelId="{021BEE7F-CD9E-4694-8DC0-A7C99B5A5B3B}" type="presParOf" srcId="{9FD286D0-ED19-4BB1-B8C1-142F53B01B79}" destId="{6C9020BF-9B32-470A-A311-5BA87BE1A383}" srcOrd="1" destOrd="0" presId="urn:microsoft.com/office/officeart/2005/8/layout/hProcess9"/>
    <dgm:cxn modelId="{25A3B43F-3D24-4DBE-B961-EBB75806B95F}" type="presParOf" srcId="{9FD286D0-ED19-4BB1-B8C1-142F53B01B79}" destId="{28A99040-507C-4B07-ACD4-121394F18B5C}" srcOrd="2" destOrd="0" presId="urn:microsoft.com/office/officeart/2005/8/layout/hProcess9"/>
    <dgm:cxn modelId="{99D0C706-CE4C-4CD3-B6B0-B8D642AC85C1}" type="presParOf" srcId="{9FD286D0-ED19-4BB1-B8C1-142F53B01B79}" destId="{2465621B-E7BA-4BBA-BA11-14093D2F1C68}" srcOrd="3" destOrd="0" presId="urn:microsoft.com/office/officeart/2005/8/layout/hProcess9"/>
    <dgm:cxn modelId="{6C8EC133-76BE-4E3E-8E3D-471C5D2422BE}" type="presParOf" srcId="{9FD286D0-ED19-4BB1-B8C1-142F53B01B79}" destId="{92012115-3A18-4362-99F9-42C847A900F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56535-FEFD-4133-92D0-99FE3D7EA9F3}">
      <dsp:nvSpPr>
        <dsp:cNvPr id="0" name=""/>
        <dsp:cNvSpPr/>
      </dsp:nvSpPr>
      <dsp:spPr>
        <a:xfrm>
          <a:off x="393440" y="0"/>
          <a:ext cx="4458996" cy="3657599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5637C-8EBD-4B69-BBBC-068C5B640AEE}">
      <dsp:nvSpPr>
        <dsp:cNvPr id="0" name=""/>
        <dsp:cNvSpPr/>
      </dsp:nvSpPr>
      <dsp:spPr>
        <a:xfrm>
          <a:off x="5635" y="1097279"/>
          <a:ext cx="1688516" cy="14630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Write the code in the source file</a:t>
          </a:r>
        </a:p>
      </dsp:txBody>
      <dsp:txXfrm>
        <a:off x="77055" y="1168699"/>
        <a:ext cx="1545676" cy="1320199"/>
      </dsp:txXfrm>
    </dsp:sp>
    <dsp:sp modelId="{28A99040-507C-4B07-ACD4-121394F18B5C}">
      <dsp:nvSpPr>
        <dsp:cNvPr id="0" name=""/>
        <dsp:cNvSpPr/>
      </dsp:nvSpPr>
      <dsp:spPr>
        <a:xfrm>
          <a:off x="1778680" y="1097279"/>
          <a:ext cx="1688516" cy="14630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Build project</a:t>
          </a:r>
        </a:p>
      </dsp:txBody>
      <dsp:txXfrm>
        <a:off x="1850100" y="1168699"/>
        <a:ext cx="1545676" cy="1320199"/>
      </dsp:txXfrm>
    </dsp:sp>
    <dsp:sp modelId="{92012115-3A18-4362-99F9-42C847A900FA}">
      <dsp:nvSpPr>
        <dsp:cNvPr id="0" name=""/>
        <dsp:cNvSpPr/>
      </dsp:nvSpPr>
      <dsp:spPr>
        <a:xfrm>
          <a:off x="3551725" y="1097279"/>
          <a:ext cx="1688516" cy="14630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Debug</a:t>
          </a:r>
        </a:p>
      </dsp:txBody>
      <dsp:txXfrm>
        <a:off x="3623145" y="1168699"/>
        <a:ext cx="1545676" cy="1320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7T15:31:17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4 24575,'-30'-2'0,"21"1"0,-1 1 0,2 0 0,-2 0 0,1 1 0,0 0 0,0 0 0,-9 4 0,17-5 0,0 0 0,1 1 0,-1-1 0,0 1 0,1-1 0,-1 1 0,0-1 0,1 1 0,-1-1 0,0 1 0,1-1 0,-1 1 0,1 0 0,-1-1 0,1 1 0,0 0 0,-1 0 0,1-1 0,0 1 0,-1 0 0,1 0 0,0 0 0,0-1 0,0 1 0,-1 0 0,1 0 0,0 0 0,0 0 0,0-1 0,1 2 0,-1 30 0,3 1 0,6 41 0,1-7 0,-7-34 0,8 58 0,-2 131 0,-10-205 0,0-1 0,-1 1 0,-2 0 0,1-1 0,-2 1 0,-1-1 0,0-1 0,-10 23 0,15-38 0,1 1 0,-1 0 0,1-1 0,-1 1 0,1 0 0,0 0 0,-1 0 0,1-1 0,0 1 0,-1 0 0,1 0 0,0 0 0,0 0 0,0-1 0,0 1 0,0 0 0,0 0 0,0 0 0,0 0 0,0 0 0,0-1 0,0 1 0,1 0 0,-1 0 0,0 0 0,1 0 0,-1-1 0,0 1 0,1 0 0,-1 0 0,1-1 0,-1 1 0,1 0 0,0-1 0,-1 1 0,1-1 0,0 1 0,-1-1 0,1 1 0,0-1 0,-1 1 0,1-1 0,0 0 0,0 1 0,0-1 0,-1 0 0,1 0 0,0 1 0,-1-1 0,1 0 0,0 0 0,-1 0 0,1 0 0,0 0 0,1-1 0,8 1 0,-1 0 0,0-1 0,17-4 0,-24 4 0,13-2-119,-2 1-59,-1-1 0,1 0 0,-1-1 0,1-1 0,-1 0 0,12-7 0,-6-1-6648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C3CCB-1EB6-4AE7-AE9C-08B6277804E8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4CB83-AB2F-4136-B5CB-8155AB478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1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8F6E-6FD9-0DD4-1827-532DDD7A9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3C37A-D10E-BDC8-E5BF-86D816AA1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C3802-46C1-C1BC-A0FA-424405BF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D40C-7F44-4FC8-A509-927D0E32FA14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7C17-B232-CF58-AB3C-7B35BEEA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991A6-A5E5-9940-B320-F6872C66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D5BF-3236-C049-3D13-7A6C4903E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AEB4-C443-CB60-C411-1C69407D4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91875-795F-57B8-4E1F-6E758727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BDB7E-CF70-4304-AA2A-EC358723A5D0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A1D8-4C5F-F4F6-FB50-86A37398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D2BE-9CED-4E45-FD32-FA045C7D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0E74-58A8-A223-D931-40FA0FF64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4CA6A-A6D3-3F2B-EEBD-823441669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F6E70-9F68-41F7-D90D-7DC3417C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84165-E9BF-430B-9CB1-D10CD7BCDC43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1B3F9-7A1A-6B3C-DABE-B6F86ED2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6AA93-6F2D-5EAE-B195-8128DEEE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CDB7-6359-F79C-8842-273FEF53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EE9A-A527-42F2-B055-6FEAF7268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DAE9E-6225-738B-AFD9-EA2358C43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1AA9D-E383-5161-4AB7-5EAA5DDC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97315-77BE-4667-B414-65573AF970DB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D2788-25E8-FC23-A61C-642EA0DD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39F4D-DD82-5A84-BB4C-95FE622A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9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B46A-3091-CB20-B210-EC94377E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8A33-289A-9380-EE12-3332802B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9A475-09BA-A037-BE9F-9F6EC43FD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0278E-5E88-CCFF-2583-158B3FC7F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BABD5-860B-1DEC-9F43-D3E5AAAEB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636918-96A7-26E2-F607-6376E733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EF9DA-456F-44B3-8A6E-55AFF9D45DD1}" type="datetime1">
              <a:rPr lang="en-US" smtClean="0"/>
              <a:t>3/21/2023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24D1F-84BA-9362-7486-13BFC6AF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33D812-49C4-047A-7433-A9D6418E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2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B29C-B046-91DD-D14C-E9793228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38643-D80D-594C-64FE-B6FE9534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5F4A6-3475-46D5-8438-C21A7F3D4B30}" type="datetime1">
              <a:rPr lang="en-US" smtClean="0"/>
              <a:t>3/21/2023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A04F0-14DF-1179-56E7-D4689CBA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A1E12-E32A-57DE-7F24-CC6A56F2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1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2B9BC-3B4C-B686-9E22-F4798DE2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1A75-A9A2-46D7-8EF9-65B9F01CD8E2}" type="datetime1">
              <a:rPr lang="en-US" smtClean="0"/>
              <a:t>3/21/2023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0DD8B-1E3D-095A-403D-9F18BB40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1DD23-3C6D-5E4F-CA99-3B4B4B39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482A-7E1E-B7F4-7B16-F2F090E1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352A6-785E-262E-5527-6E6259E27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C31F6-38D0-423B-3290-C34FD841F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65169-6E40-4469-128C-A70678C18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02A7-C873-4F08-BD0E-C0DA02410487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29289-6E75-9903-97EC-F51E1A1A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02BB5-0A4D-B731-6D01-653A5536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5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546F-63C9-3194-3C3B-5FD2C9A9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9652E-7D3F-5DA4-F803-E2C15AB3D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4DD3D-5C92-47ED-772C-7CA495B9A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D93F9-3BFD-FFB5-907A-5CDDA15B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AD92F-8915-4328-AEB5-84C263CF5D73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0041B-9F1C-8EF6-4731-DDA98631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3BB9C-3D76-B06D-6445-5172C20C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5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8F63-A060-5747-FB17-FE596EF0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B3BF7-94B8-4162-EA32-70953E7BD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3E11-159D-1B9C-47E7-790ADC7E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4A444-41D0-49CA-BB47-A3D66A53FA18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EF820-8E58-30B4-3897-E9AD7757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5ADB8-5DB3-C5DD-B3EE-40F58968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6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A0B49-166F-EBF3-B522-1B943675C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515F4-71F6-FBA0-2785-B5E287D2F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B266B-129A-9167-4672-66514462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9C1A-C129-485F-A0DE-49142178CD6F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7225-D76E-FB73-DBF9-B36835A2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78A71-A9E0-69BE-12DF-4C24D4B5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8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500F1-82E4-9E92-A397-D93FFD9D1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0CC3-689D-9911-3881-026FC5E9E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8D45A-A9FC-6F68-9E5C-FC7C3F5C9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67672-68A0-4D17-B48D-EC69CB487B8F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979A2-CBEC-D961-A7E9-A57B6FA37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57B2A-9E92-D0EB-187F-311DD7A6C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8E2BD-B70B-4665-B910-31045DB6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7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226D7317-41F3-E0EF-B041-DC13BC20A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8" r="1441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84923-CB64-79C2-AAA9-E85638B10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5411092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</a:rPr>
              <a:t>STM32 Development Board Basics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C2B811B-D25D-61FE-17D7-C1911C782C7D}"/>
              </a:ext>
            </a:extLst>
          </p:cNvPr>
          <p:cNvSpPr txBox="1">
            <a:spLocks/>
          </p:cNvSpPr>
          <p:nvPr/>
        </p:nvSpPr>
        <p:spPr>
          <a:xfrm>
            <a:off x="574758" y="4736894"/>
            <a:ext cx="6251111" cy="202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Dr. Shugata Ahmed</a:t>
            </a:r>
          </a:p>
          <a:p>
            <a:pPr algn="l"/>
            <a:r>
              <a:rPr lang="en-US" sz="1800" dirty="0"/>
              <a:t>Assistant Professor</a:t>
            </a:r>
          </a:p>
          <a:p>
            <a:pPr algn="l"/>
            <a:r>
              <a:rPr lang="en-US" sz="1800" dirty="0"/>
              <a:t>Department of Robotics and Mechatronics Engineering</a:t>
            </a:r>
          </a:p>
          <a:p>
            <a:pPr algn="l"/>
            <a:r>
              <a:rPr lang="en-US" sz="1800" dirty="0"/>
              <a:t>University of Dhaka</a:t>
            </a:r>
          </a:p>
          <a:p>
            <a:pPr algn="l"/>
            <a:r>
              <a:rPr lang="en-US" sz="1800" dirty="0"/>
              <a:t>Dhaka 1000, Bangladesh</a:t>
            </a:r>
          </a:p>
          <a:p>
            <a:pPr algn="l"/>
            <a:r>
              <a:rPr lang="en-US" sz="1800" dirty="0"/>
              <a:t>Email: shugataahmed.rme@du.ac.bd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302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BF04B-57A1-0FC6-543A-8656BDCF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593" y="0"/>
            <a:ext cx="6251110" cy="1783080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STM32F407G Discovery Board Features</a:t>
            </a:r>
          </a:p>
        </p:txBody>
      </p:sp>
      <p:pic>
        <p:nvPicPr>
          <p:cNvPr id="14" name="Picture 4" descr="Mother Board">
            <a:extLst>
              <a:ext uri="{FF2B5EF4-FFF2-40B4-BE49-F238E27FC236}">
                <a16:creationId xmlns:a16="http://schemas.microsoft.com/office/drawing/2014/main" id="{6F3716BE-0D2D-05AB-487B-923B455829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36" r="292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BEA48-5750-FC6D-2A2A-A97E4F5E4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2441448"/>
            <a:ext cx="7091265" cy="4717370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5600" b="1" dirty="0"/>
              <a:t>Microcontroller: STM32F407G</a:t>
            </a:r>
            <a:r>
              <a:rPr lang="en-US" sz="5600" dirty="0"/>
              <a:t> microcontroller has an </a:t>
            </a:r>
            <a:r>
              <a:rPr lang="en-US" sz="5600" b="1" dirty="0"/>
              <a:t>ARM Cortex-M4 </a:t>
            </a:r>
            <a:r>
              <a:rPr lang="en-US" sz="5600" dirty="0"/>
              <a:t>processor.</a:t>
            </a:r>
          </a:p>
          <a:p>
            <a:pPr algn="just">
              <a:lnSpc>
                <a:spcPct val="160000"/>
              </a:lnSpc>
            </a:pPr>
            <a:r>
              <a:rPr lang="en-US" sz="5600" b="1" dirty="0"/>
              <a:t>Memory:</a:t>
            </a:r>
            <a:r>
              <a:rPr lang="en-US" sz="5600" dirty="0"/>
              <a:t> </a:t>
            </a:r>
            <a:r>
              <a:rPr lang="en-US" sz="5600" b="1" dirty="0"/>
              <a:t>Flash memory </a:t>
            </a:r>
            <a:r>
              <a:rPr lang="en-US" sz="5600" dirty="0"/>
              <a:t>(up to 1 MB), </a:t>
            </a:r>
            <a:r>
              <a:rPr lang="en-US" sz="5600" b="1" dirty="0"/>
              <a:t>SRAM</a:t>
            </a:r>
            <a:r>
              <a:rPr lang="en-US" sz="5600" dirty="0"/>
              <a:t>, as well as the ability to connect </a:t>
            </a:r>
            <a:r>
              <a:rPr lang="en-US" sz="5600" b="1" dirty="0"/>
              <a:t>external memory devices</a:t>
            </a:r>
            <a:r>
              <a:rPr lang="en-US" sz="5600" dirty="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5600" dirty="0"/>
              <a:t>Embedded </a:t>
            </a:r>
            <a:r>
              <a:rPr lang="en-US" sz="5600" b="1" dirty="0"/>
              <a:t>ST-Link/V2 debugger </a:t>
            </a:r>
            <a:r>
              <a:rPr lang="en-US" sz="5600" dirty="0"/>
              <a:t>onboard.</a:t>
            </a:r>
          </a:p>
          <a:p>
            <a:pPr algn="just">
              <a:lnSpc>
                <a:spcPct val="160000"/>
              </a:lnSpc>
            </a:pPr>
            <a:r>
              <a:rPr lang="en-US" sz="5600" b="1" dirty="0"/>
              <a:t>I/O ports: </a:t>
            </a:r>
            <a:r>
              <a:rPr lang="en-US" sz="5600" dirty="0"/>
              <a:t>General Purpose I/O (</a:t>
            </a:r>
            <a:r>
              <a:rPr lang="en-US" sz="5600" b="1" dirty="0"/>
              <a:t>GPIO</a:t>
            </a:r>
            <a:r>
              <a:rPr lang="en-US" sz="5600" dirty="0"/>
              <a:t>) pins are connected to </a:t>
            </a:r>
            <a:r>
              <a:rPr lang="en-US" sz="5600" b="1" dirty="0"/>
              <a:t>GPIO ports/ registers</a:t>
            </a:r>
            <a:r>
              <a:rPr lang="en-US" sz="5600" dirty="0"/>
              <a:t>. Each port has </a:t>
            </a:r>
            <a:r>
              <a:rPr lang="en-US" sz="5600" b="1" dirty="0"/>
              <a:t>16 pins. </a:t>
            </a:r>
            <a:r>
              <a:rPr lang="en-US" sz="5600" dirty="0"/>
              <a:t>For example: </a:t>
            </a:r>
            <a:r>
              <a:rPr lang="en-US" sz="5600" b="1" dirty="0"/>
              <a:t>Port A</a:t>
            </a:r>
            <a:r>
              <a:rPr lang="en-US" sz="5600" dirty="0"/>
              <a:t> has pins from </a:t>
            </a:r>
            <a:r>
              <a:rPr lang="en-US" sz="5600" b="1" dirty="0"/>
              <a:t>PA0</a:t>
            </a:r>
            <a:r>
              <a:rPr lang="en-US" sz="5600" dirty="0"/>
              <a:t> to </a:t>
            </a:r>
            <a:r>
              <a:rPr lang="en-US" sz="5600" b="1" dirty="0"/>
              <a:t>PA15</a:t>
            </a:r>
            <a:r>
              <a:rPr lang="en-US" sz="5600" dirty="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5600" b="1" dirty="0"/>
              <a:t>Peripheral registers: </a:t>
            </a:r>
            <a:r>
              <a:rPr lang="en-US" sz="5600" dirty="0"/>
              <a:t>GPIO registers, Flash interface register, UART registers, USART registers, Timer registers, etc. (See Table 1. of the reference manual)</a:t>
            </a:r>
            <a:endParaRPr lang="en-US" sz="5600" b="1" dirty="0"/>
          </a:p>
          <a:p>
            <a:pPr algn="just">
              <a:lnSpc>
                <a:spcPct val="160000"/>
              </a:lnSpc>
            </a:pPr>
            <a:r>
              <a:rPr lang="en-US" sz="5600" b="1" dirty="0"/>
              <a:t>Communication protocols: </a:t>
            </a:r>
            <a:r>
              <a:rPr lang="en-US" sz="5600" dirty="0"/>
              <a:t>UART, USART, SPI, I2C.</a:t>
            </a:r>
          </a:p>
          <a:p>
            <a:pPr algn="just">
              <a:lnSpc>
                <a:spcPct val="160000"/>
              </a:lnSpc>
            </a:pPr>
            <a:r>
              <a:rPr lang="en-US" sz="5600" b="1" dirty="0"/>
              <a:t>Maximum operational frequency: </a:t>
            </a:r>
            <a:r>
              <a:rPr lang="en-US" sz="5600" dirty="0"/>
              <a:t>168MHz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55B0-3974-B98F-3192-AA00CF25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5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0379" y="181282"/>
            <a:ext cx="6621621" cy="589294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Bus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Advanced High-performance Bus (AHB): </a:t>
            </a:r>
            <a:r>
              <a:rPr lang="en-US" sz="2000" dirty="0"/>
              <a:t>Maximum frequency </a:t>
            </a:r>
            <a:r>
              <a:rPr lang="en-US" sz="2000" b="1" dirty="0"/>
              <a:t>168MHz (HCLK), </a:t>
            </a:r>
            <a:r>
              <a:rPr lang="en-US" sz="2000" dirty="0"/>
              <a:t>which is directly provided to the core memory, Direct Memory Access (DMA) and processor (</a:t>
            </a:r>
            <a:r>
              <a:rPr lang="en-US" sz="2000" b="1" dirty="0"/>
              <a:t>FCLK</a:t>
            </a:r>
            <a:r>
              <a:rPr lang="en-US" sz="2000" dirty="0"/>
              <a:t>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>All GPIO registers are connected to AHB1 bus.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>Camera and USB are connected to AHB2 bus.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Advanced Peripheral Bus (APB):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APB1: </a:t>
            </a:r>
            <a:r>
              <a:rPr lang="en-US" sz="2000" dirty="0"/>
              <a:t>Maximum frequency </a:t>
            </a:r>
            <a:r>
              <a:rPr lang="en-US" sz="2000" b="1" dirty="0"/>
              <a:t>42MHz (P1CLK). </a:t>
            </a:r>
            <a:r>
              <a:rPr lang="en-US" sz="2000" dirty="0"/>
              <a:t>Connects to devices such as </a:t>
            </a:r>
            <a:r>
              <a:rPr lang="en-US" sz="2000" b="1" dirty="0"/>
              <a:t>timers</a:t>
            </a:r>
            <a:r>
              <a:rPr lang="en-US" sz="2000" dirty="0"/>
              <a:t>, </a:t>
            </a:r>
            <a:r>
              <a:rPr lang="en-US" sz="2000" b="1" dirty="0"/>
              <a:t>USART pins</a:t>
            </a:r>
            <a:r>
              <a:rPr lang="en-US" sz="2000" dirty="0"/>
              <a:t>, </a:t>
            </a:r>
            <a:r>
              <a:rPr lang="en-US" sz="2000" b="1" dirty="0"/>
              <a:t>SPI pins</a:t>
            </a:r>
            <a:r>
              <a:rPr lang="en-US" sz="2000" dirty="0"/>
              <a:t>, </a:t>
            </a:r>
            <a:r>
              <a:rPr lang="en-US" sz="2000" b="1" dirty="0"/>
              <a:t>I2C pins</a:t>
            </a:r>
            <a:r>
              <a:rPr lang="en-US" sz="2000" dirty="0"/>
              <a:t>, and </a:t>
            </a:r>
            <a:r>
              <a:rPr lang="en-US" sz="2000" b="1" dirty="0"/>
              <a:t>CAN pins</a:t>
            </a:r>
            <a:r>
              <a:rPr lang="en-US" sz="20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APB2:</a:t>
            </a:r>
            <a:r>
              <a:rPr lang="en-US" sz="2000" dirty="0"/>
              <a:t> Maximum frequency </a:t>
            </a:r>
            <a:r>
              <a:rPr lang="en-US" sz="2000" b="1" dirty="0"/>
              <a:t>84MHz (P2CLK)</a:t>
            </a:r>
            <a:r>
              <a:rPr lang="en-US" sz="2000" dirty="0"/>
              <a:t>. Connects to devices such as </a:t>
            </a:r>
            <a:r>
              <a:rPr lang="en-US" sz="2000" b="1" dirty="0"/>
              <a:t>timers</a:t>
            </a:r>
            <a:r>
              <a:rPr lang="en-US" sz="2000" dirty="0"/>
              <a:t>, </a:t>
            </a:r>
            <a:r>
              <a:rPr lang="en-US" sz="2000" b="1" dirty="0"/>
              <a:t>USART pins</a:t>
            </a:r>
            <a:r>
              <a:rPr lang="en-US" sz="2000" dirty="0"/>
              <a:t>, </a:t>
            </a:r>
            <a:r>
              <a:rPr lang="en-US" sz="2000" b="1" dirty="0"/>
              <a:t>ADC pins</a:t>
            </a:r>
            <a:r>
              <a:rPr lang="en-US" sz="2000" dirty="0"/>
              <a:t>, and </a:t>
            </a:r>
            <a:r>
              <a:rPr lang="en-US" sz="2000" b="1" dirty="0"/>
              <a:t>PWM pins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AHB/APB1 </a:t>
            </a:r>
            <a:r>
              <a:rPr lang="en-US" sz="2000" dirty="0"/>
              <a:t>and </a:t>
            </a:r>
            <a:r>
              <a:rPr lang="en-US" sz="2000" b="1" dirty="0"/>
              <a:t>AHB/APB2 </a:t>
            </a:r>
            <a:r>
              <a:rPr lang="en-US" sz="2000" dirty="0"/>
              <a:t>bridges are used to convert AHB protocol to APB protocol.</a:t>
            </a:r>
          </a:p>
          <a:p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F0B2E-3B0B-F739-F1C2-B55352344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6" y="0"/>
            <a:ext cx="5462918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53A4A5-4DAF-1590-B614-06963F6C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7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424" y="162620"/>
            <a:ext cx="5524413" cy="669538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AHB Bus Matrix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ICODE Bus is used to fetch instructions from the Flash memory to the CPU through AHB Bus Matrix and I-Bus (32-bit AHB-Lite Bus).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To be fetched the instruction must be stored in memory address </a:t>
            </a:r>
            <a:r>
              <a:rPr lang="en-US" sz="2200" b="1" dirty="0"/>
              <a:t>0x00000000 to 0x1FFFFFFC </a:t>
            </a:r>
            <a:r>
              <a:rPr lang="en-US" sz="2200" dirty="0"/>
              <a:t>(in decimal from 0 to 536870908). (From ARM Cortex M4 Reference Manual)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DCODE Bus is used to fetch data and debug access from the Flash memory to the CPU through AHB Bus Matrix and D-Bus (32-bit AHB-Lite Bus).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 To be fetched the instruction must be stored in  memory address </a:t>
            </a:r>
            <a:r>
              <a:rPr lang="en-US" sz="2200" b="1" dirty="0"/>
              <a:t>0x00000000 to 0x1FFFFFFF </a:t>
            </a:r>
            <a:r>
              <a:rPr lang="en-US" sz="2200" dirty="0"/>
              <a:t>(in decimal from 0 to 536870911). (From ARM Cortex M4 Reference Manual).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S-Bus (32-bit AHB-Lite Bus) is used to fetch instructions as well as data and debug accesses from locations outside of above addresses (</a:t>
            </a:r>
            <a:r>
              <a:rPr lang="en-US" sz="2200" b="1" dirty="0"/>
              <a:t>0x20000000 to 0xDFFFFFFF </a:t>
            </a:r>
            <a:r>
              <a:rPr lang="en-US" sz="2200" dirty="0"/>
              <a:t>and</a:t>
            </a:r>
            <a:r>
              <a:rPr lang="en-US" sz="2200" b="1" dirty="0"/>
              <a:t> 0xE0100000 to 0xFFFFFFFF</a:t>
            </a:r>
            <a:r>
              <a:rPr lang="en-US" sz="2200" dirty="0"/>
              <a:t>). (From ARM Cortex M4 Reference Manual). That means fetching instruction, data, and debug accesses from all other peripherals is by S-bus.</a:t>
            </a:r>
          </a:p>
          <a:p>
            <a:endParaRPr lang="en-US" sz="3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A63865-A208-931F-3EA4-AD0E791FBC95}"/>
              </a:ext>
            </a:extLst>
          </p:cNvPr>
          <p:cNvGrpSpPr/>
          <p:nvPr/>
        </p:nvGrpSpPr>
        <p:grpSpPr>
          <a:xfrm>
            <a:off x="3110" y="101922"/>
            <a:ext cx="6465423" cy="5001541"/>
            <a:chOff x="3110" y="101922"/>
            <a:chExt cx="6465423" cy="50015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49D0614-F6A9-CC8B-7B3C-3BC87D3AE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40000"/>
            </a:blip>
            <a:stretch>
              <a:fillRect/>
            </a:stretch>
          </p:blipFill>
          <p:spPr>
            <a:xfrm>
              <a:off x="3110" y="708269"/>
              <a:ext cx="6465423" cy="439519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CB55B1-42AF-69F4-5417-23F8EAE52778}"/>
                </a:ext>
              </a:extLst>
            </p:cNvPr>
            <p:cNvSpPr txBox="1"/>
            <p:nvPr/>
          </p:nvSpPr>
          <p:spPr>
            <a:xfrm>
              <a:off x="2011043" y="901744"/>
              <a:ext cx="761396" cy="339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Master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E2C0CE-E970-6CB7-991D-87BF4AA169CE}"/>
                </a:ext>
              </a:extLst>
            </p:cNvPr>
            <p:cNvSpPr txBox="1"/>
            <p:nvPr/>
          </p:nvSpPr>
          <p:spPr>
            <a:xfrm>
              <a:off x="4913390" y="4556554"/>
              <a:ext cx="606703" cy="339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Slave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CCFBAF-1466-E0E4-1F0C-1EBF3163643C}"/>
                </a:ext>
              </a:extLst>
            </p:cNvPr>
            <p:cNvSpPr txBox="1"/>
            <p:nvPr/>
          </p:nvSpPr>
          <p:spPr>
            <a:xfrm>
              <a:off x="938494" y="101922"/>
              <a:ext cx="5297465" cy="339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Dots show communication network between master and slave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0114EFB-0F3F-7F45-5D2B-ACFDAF854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8190" y="441662"/>
              <a:ext cx="1129002" cy="268408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058AE-F243-80A7-C045-3EC72E18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506B41-A410-BCBA-4FC4-E3BE8877EDDB}"/>
              </a:ext>
            </a:extLst>
          </p:cNvPr>
          <p:cNvSpPr/>
          <p:nvPr/>
        </p:nvSpPr>
        <p:spPr>
          <a:xfrm>
            <a:off x="3741576" y="3104418"/>
            <a:ext cx="279918" cy="266607"/>
          </a:xfrm>
          <a:prstGeom prst="ellipse">
            <a:avLst/>
          </a:prstGeom>
          <a:solidFill>
            <a:schemeClr val="lt1">
              <a:alpha val="0"/>
            </a:schemeClr>
          </a:solidFill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0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018B-A189-17DC-04AF-941500B4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02" y="427664"/>
            <a:ext cx="5660551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Flash memory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710" y="365124"/>
            <a:ext cx="5402424" cy="64928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Flash memory address is from 0x08000000 to 0x080FFFFF (in decimal from 134217728 to 135266303) which is </a:t>
            </a:r>
            <a:r>
              <a:rPr lang="en-US" sz="2400" b="1" dirty="0">
                <a:latin typeface="+mj-lt"/>
              </a:rPr>
              <a:t>1 MB</a:t>
            </a:r>
            <a:r>
              <a:rPr lang="en-US" sz="2400" dirty="0">
                <a:latin typeface="+mj-lt"/>
              </a:rPr>
              <a:t>.</a:t>
            </a:r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17BF8-9771-5C8E-1D4A-44CBB50D7B9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11041" y="2391803"/>
            <a:ext cx="6500326" cy="42677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CE6C4-040C-43BD-43F9-5C3C0C22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2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018B-A189-17DC-04AF-941500B4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43" y="427664"/>
            <a:ext cx="5240673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Memory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04" y="1753227"/>
            <a:ext cx="11921391" cy="467710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Width of the System bus (S-Bus) is 32 bit which can access 2^32 memory locations (memory address from </a:t>
            </a:r>
            <a:r>
              <a:rPr lang="en-US" sz="2400" b="1" dirty="0">
                <a:latin typeface="+mj-lt"/>
              </a:rPr>
              <a:t>0x00000000 </a:t>
            </a:r>
            <a:r>
              <a:rPr lang="en-US" sz="2400" dirty="0">
                <a:latin typeface="+mj-lt"/>
              </a:rPr>
              <a:t>to</a:t>
            </a:r>
            <a:r>
              <a:rPr lang="en-US" sz="2400" b="1" dirty="0">
                <a:latin typeface="+mj-lt"/>
              </a:rPr>
              <a:t> 0xFFFFFFFF</a:t>
            </a:r>
            <a:r>
              <a:rPr lang="en-US" sz="2400" dirty="0">
                <a:latin typeface="+mj-lt"/>
              </a:rPr>
              <a:t>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These memory addresses are assigned to different peripheral registers.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For memory map of different registers, see Table 1 of the reference manual.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43692-8202-4A0C-6B1B-E76D7787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018B-A189-17DC-04AF-941500B4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5" y="142524"/>
            <a:ext cx="1802363" cy="81853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Clocks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B94886-80A7-2DD4-01BE-023C414A7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4" y="855851"/>
            <a:ext cx="7363496" cy="669261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+mj-lt"/>
              </a:rPr>
              <a:t>Clock sources: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latin typeface="+mj-lt"/>
              </a:rPr>
              <a:t>External source/ Crystal oscillator : </a:t>
            </a:r>
            <a:r>
              <a:rPr lang="en-US" dirty="0">
                <a:latin typeface="+mj-lt"/>
              </a:rPr>
              <a:t>Connected externally to the MCU. Hence it is called </a:t>
            </a:r>
            <a:r>
              <a:rPr lang="en-US" b="1" dirty="0">
                <a:latin typeface="+mj-lt"/>
              </a:rPr>
              <a:t>High Speed External (HSE)</a:t>
            </a:r>
            <a:r>
              <a:rPr lang="en-US" dirty="0">
                <a:latin typeface="+mj-lt"/>
              </a:rPr>
              <a:t> oscillator source. For </a:t>
            </a:r>
            <a:r>
              <a:rPr lang="en-US" sz="2800" b="1" dirty="0">
                <a:latin typeface="+mj-lt"/>
              </a:rPr>
              <a:t>STM32F407G</a:t>
            </a:r>
            <a:r>
              <a:rPr lang="en-US" sz="2800" dirty="0">
                <a:latin typeface="+mj-lt"/>
              </a:rPr>
              <a:t> MCU the HSE frequency must be between </a:t>
            </a:r>
            <a:r>
              <a:rPr lang="en-US" sz="2800" b="1" dirty="0">
                <a:latin typeface="+mj-lt"/>
              </a:rPr>
              <a:t>4-20 </a:t>
            </a:r>
            <a:r>
              <a:rPr lang="en-US" sz="2800" b="1" dirty="0" err="1">
                <a:latin typeface="+mj-lt"/>
              </a:rPr>
              <a:t>MHz.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In STM32F407G Discovery Board an </a:t>
            </a:r>
            <a:r>
              <a:rPr lang="en-US" sz="2800" b="1" dirty="0">
                <a:latin typeface="+mj-lt"/>
              </a:rPr>
              <a:t>8 MHz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oscillator is connected between PH0 and PH1 pins of the MCU. </a:t>
            </a:r>
            <a:r>
              <a:rPr lang="en-US" u="sng" dirty="0" err="1">
                <a:latin typeface="+mj-lt"/>
              </a:rPr>
              <a:t>Nucleo</a:t>
            </a:r>
            <a:r>
              <a:rPr lang="en-US" u="sng" dirty="0">
                <a:latin typeface="+mj-lt"/>
              </a:rPr>
              <a:t> boards does not have the on-board crystal oscillator</a:t>
            </a:r>
            <a:r>
              <a:rPr lang="en-US" dirty="0">
                <a:latin typeface="+mj-lt"/>
              </a:rPr>
              <a:t>. Clock signal is provided from the external source which is </a:t>
            </a:r>
            <a:r>
              <a:rPr lang="en-US" b="1" dirty="0">
                <a:latin typeface="+mj-lt"/>
              </a:rPr>
              <a:t>ST-Link circuitry.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latin typeface="+mj-lt"/>
              </a:rPr>
              <a:t>RC oscillator : 16 MHz </a:t>
            </a:r>
            <a:r>
              <a:rPr lang="en-US" dirty="0">
                <a:latin typeface="+mj-lt"/>
              </a:rPr>
              <a:t>RC oscillator built-in inside the MCU. Hence it is called </a:t>
            </a:r>
            <a:r>
              <a:rPr lang="en-US" b="1" dirty="0">
                <a:latin typeface="+mj-lt"/>
              </a:rPr>
              <a:t>High Speed Internal (HSI)</a:t>
            </a:r>
            <a:r>
              <a:rPr lang="en-US" dirty="0">
                <a:latin typeface="+mj-lt"/>
              </a:rPr>
              <a:t> oscillator source. It is the default clock.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latin typeface="+mj-lt"/>
              </a:rPr>
              <a:t>PLL (Phase Locked Loop) : </a:t>
            </a:r>
            <a:r>
              <a:rPr lang="en-US" dirty="0">
                <a:latin typeface="+mj-lt"/>
              </a:rPr>
              <a:t>Built-in inside the MCU. It boosts HSE or HSI clock.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771124-3165-13E1-AB2B-D8674A930B25}"/>
              </a:ext>
            </a:extLst>
          </p:cNvPr>
          <p:cNvGrpSpPr/>
          <p:nvPr/>
        </p:nvGrpSpPr>
        <p:grpSpPr>
          <a:xfrm>
            <a:off x="7520473" y="1027907"/>
            <a:ext cx="4693304" cy="4764864"/>
            <a:chOff x="7520473" y="1027907"/>
            <a:chExt cx="4693304" cy="476486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1A0803C-0190-009F-FE04-DECA09D7C174}"/>
                </a:ext>
              </a:extLst>
            </p:cNvPr>
            <p:cNvGrpSpPr/>
            <p:nvPr/>
          </p:nvGrpSpPr>
          <p:grpSpPr>
            <a:xfrm>
              <a:off x="7520473" y="1027907"/>
              <a:ext cx="4693304" cy="4365187"/>
              <a:chOff x="6568653" y="1027906"/>
              <a:chExt cx="5172075" cy="463867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2B3C993-E302-FB49-6D7A-A65DF374B8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54503" y="1027906"/>
                <a:ext cx="4086225" cy="4638675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898837FF-48D1-04E1-D649-C21F3ED28842}"/>
                      </a:ext>
                    </a:extLst>
                  </p14:cNvPr>
                  <p14:cNvContentPartPr/>
                  <p14:nvPr/>
                </p14:nvContentPartPr>
                <p14:xfrm>
                  <a:off x="8083290" y="3227565"/>
                  <a:ext cx="83880" cy="29988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898837FF-48D1-04E1-D649-C21F3ED28842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074056" y="3218478"/>
                    <a:ext cx="102734" cy="318433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8B458E-657F-2A03-9535-5EFD30170C16}"/>
                  </a:ext>
                </a:extLst>
              </p:cNvPr>
              <p:cNvSpPr txBox="1"/>
              <p:nvPr/>
            </p:nvSpPr>
            <p:spPr>
              <a:xfrm>
                <a:off x="6568653" y="2828835"/>
                <a:ext cx="146341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Oscillator is connected between these pins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53001F4-6363-746C-BB31-6E1F6B126C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35078" y="3347243"/>
                <a:ext cx="34821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0015E6-1ACA-4140-756B-E6C12B5550A2}"/>
                </a:ext>
              </a:extLst>
            </p:cNvPr>
            <p:cNvSpPr txBox="1"/>
            <p:nvPr/>
          </p:nvSpPr>
          <p:spPr>
            <a:xfrm>
              <a:off x="9769152" y="5423439"/>
              <a:ext cx="2228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MCU pin out diagram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EEFE3-60CB-FE94-F6ED-64D8150E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1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4A4B-DBFC-BE9A-BE84-BD81B0AC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Task: Turning On Built-in LEDs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AC1F9-7BDA-2294-907C-8D7179B96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907" y="2870555"/>
            <a:ext cx="5822301" cy="113227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3600" b="1" dirty="0">
                <a:solidFill>
                  <a:srgbClr val="FF0000"/>
                </a:solidFill>
              </a:rPr>
              <a:t>Let’s turn on the </a:t>
            </a:r>
            <a:r>
              <a:rPr lang="en-US" sz="3600" b="1" dirty="0">
                <a:solidFill>
                  <a:schemeClr val="accent6"/>
                </a:solidFill>
              </a:rPr>
              <a:t>green LED (LD4) </a:t>
            </a:r>
            <a:r>
              <a:rPr lang="en-US" sz="3600" b="1" dirty="0">
                <a:solidFill>
                  <a:srgbClr val="FF0000"/>
                </a:solidFill>
              </a:rPr>
              <a:t>step-by-step!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40F24-E6DF-8DD6-E835-ED601DB0863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756569" y="1858282"/>
            <a:ext cx="5280338" cy="44941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C40CD-4AE8-FC9D-C509-09F80AA7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18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Enabling the clock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Clock for peripherals which are connected to AHB1 bus (such as GPIO ports, USB) are enabled by </a:t>
            </a:r>
            <a:r>
              <a:rPr lang="en-US" sz="2000" b="1" dirty="0">
                <a:latin typeface="+mj-lt"/>
              </a:rPr>
              <a:t>RCC AHB1 peripheral clock register (RCC_AHB1ENR)</a:t>
            </a:r>
            <a:r>
              <a:rPr lang="en-US" sz="2000" dirty="0">
                <a:latin typeface="+mj-lt"/>
              </a:rPr>
              <a:t>.</a:t>
            </a:r>
            <a:r>
              <a:rPr lang="en-US" sz="2000" b="1" dirty="0">
                <a:latin typeface="+mj-lt"/>
              </a:rPr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For example, bit 3 of this register </a:t>
            </a:r>
            <a:r>
              <a:rPr lang="en-US" sz="2000" b="1" dirty="0">
                <a:latin typeface="+mj-lt"/>
              </a:rPr>
              <a:t>(GPIODEN) </a:t>
            </a:r>
            <a:r>
              <a:rPr lang="en-US" sz="2000" dirty="0">
                <a:latin typeface="+mj-lt"/>
              </a:rPr>
              <a:t>enables/ disables IO port D clock:</a:t>
            </a:r>
          </a:p>
          <a:p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09318-65C9-DCBD-A741-A4CE775AF34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4207373" y="2870079"/>
            <a:ext cx="2710541" cy="57204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E13C8E9-DEBB-A72D-02C7-C76002AE3CB7}"/>
              </a:ext>
            </a:extLst>
          </p:cNvPr>
          <p:cNvGrpSpPr/>
          <p:nvPr/>
        </p:nvGrpSpPr>
        <p:grpSpPr>
          <a:xfrm>
            <a:off x="831246" y="3664863"/>
            <a:ext cx="10279135" cy="3108136"/>
            <a:chOff x="831246" y="3664863"/>
            <a:chExt cx="10279135" cy="31081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AB9A37-A200-C6A7-986A-C198A0031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-20000" contrast="40000"/>
            </a:blip>
            <a:stretch>
              <a:fillRect/>
            </a:stretch>
          </p:blipFill>
          <p:spPr>
            <a:xfrm>
              <a:off x="831246" y="4211856"/>
              <a:ext cx="10279135" cy="256114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9F82F64-603C-84DC-9F3E-2CB4D93C6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-20000" contrast="40000"/>
            </a:blip>
            <a:stretch>
              <a:fillRect/>
            </a:stretch>
          </p:blipFill>
          <p:spPr>
            <a:xfrm>
              <a:off x="3674772" y="3664863"/>
              <a:ext cx="4842456" cy="32425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B448972-3913-3316-69BC-1C3493F2A18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8849066" y="3614105"/>
            <a:ext cx="2355202" cy="32425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2120F5-1126-1ACD-C404-CCFCA1325001}"/>
              </a:ext>
            </a:extLst>
          </p:cNvPr>
          <p:cNvSpPr txBox="1"/>
          <p:nvPr/>
        </p:nvSpPr>
        <p:spPr>
          <a:xfrm>
            <a:off x="8849066" y="319531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Base address: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593F9-A7F6-EF73-77E2-3D2E9BBB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40B45-26B7-AD52-9B33-4C0CA5218059}"/>
              </a:ext>
            </a:extLst>
          </p:cNvPr>
          <p:cNvSpPr txBox="1"/>
          <p:nvPr/>
        </p:nvSpPr>
        <p:spPr>
          <a:xfrm>
            <a:off x="10405965" y="3191566"/>
            <a:ext cx="1567543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0x4002 </a:t>
            </a:r>
            <a:r>
              <a:rPr lang="en-US" dirty="0">
                <a:latin typeface="Arial" panose="020B0604020202020204" pitchFamily="34" charset="0"/>
              </a:rPr>
              <a:t>38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831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Setting I/O pins as input/ output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done by </a:t>
            </a:r>
            <a:r>
              <a:rPr lang="en-US" sz="2000" b="1" dirty="0">
                <a:latin typeface="+mj-lt"/>
              </a:rPr>
              <a:t>GPIO port mode register (</a:t>
            </a:r>
            <a:r>
              <a:rPr lang="en-US" sz="2000" b="1" dirty="0" err="1">
                <a:latin typeface="+mj-lt"/>
              </a:rPr>
              <a:t>GPIOx_MODER</a:t>
            </a:r>
            <a:r>
              <a:rPr lang="en-US" sz="2000" b="1" dirty="0">
                <a:latin typeface="+mj-lt"/>
              </a:rPr>
              <a:t>) </a:t>
            </a:r>
            <a:r>
              <a:rPr lang="pl-PL" sz="1800" b="1" i="0" u="none" strike="noStrike" baseline="0" dirty="0">
                <a:latin typeface="Arial,Bold"/>
              </a:rPr>
              <a:t>(x = A..I/J/K)</a:t>
            </a:r>
            <a:endParaRPr lang="en-US" sz="2000" b="1" dirty="0">
              <a:latin typeface="+mj-lt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For example, </a:t>
            </a:r>
            <a:r>
              <a:rPr lang="en-US" sz="2000" b="1" dirty="0">
                <a:latin typeface="+mj-lt"/>
              </a:rPr>
              <a:t>PD12 </a:t>
            </a:r>
            <a:r>
              <a:rPr lang="en-US" sz="2000" dirty="0">
                <a:latin typeface="+mj-lt"/>
              </a:rPr>
              <a:t>can be declared as an output pin by setting bit 25 and 24 as 0 and 1, respectively.</a:t>
            </a:r>
          </a:p>
          <a:p>
            <a:endParaRPr lang="en-US" sz="3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263691-6CA6-4A35-C49E-E53B681D7F48}"/>
              </a:ext>
            </a:extLst>
          </p:cNvPr>
          <p:cNvGrpSpPr/>
          <p:nvPr/>
        </p:nvGrpSpPr>
        <p:grpSpPr>
          <a:xfrm>
            <a:off x="756655" y="3936625"/>
            <a:ext cx="10312427" cy="2650786"/>
            <a:chOff x="756655" y="3936625"/>
            <a:chExt cx="10312427" cy="265078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2F22AA-0D21-74BF-C7A8-16B01ED9D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40000"/>
            </a:blip>
            <a:stretch>
              <a:fillRect/>
            </a:stretch>
          </p:blipFill>
          <p:spPr>
            <a:xfrm>
              <a:off x="756655" y="4405338"/>
              <a:ext cx="10312427" cy="218207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7814E45-9750-4002-B630-D773C3F4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-20000" contrast="40000"/>
            </a:blip>
            <a:stretch>
              <a:fillRect/>
            </a:stretch>
          </p:blipFill>
          <p:spPr>
            <a:xfrm>
              <a:off x="3264224" y="3936625"/>
              <a:ext cx="4842456" cy="272374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2DCC64B3-B066-384F-BEF4-E052128990E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3673703" y="2468606"/>
            <a:ext cx="3100322" cy="120717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D049D67-9275-C867-DE2A-381763D8EDBC}"/>
              </a:ext>
            </a:extLst>
          </p:cNvPr>
          <p:cNvGrpSpPr/>
          <p:nvPr/>
        </p:nvGrpSpPr>
        <p:grpSpPr>
          <a:xfrm>
            <a:off x="8914383" y="3192157"/>
            <a:ext cx="3181663" cy="777852"/>
            <a:chOff x="8998362" y="3192157"/>
            <a:chExt cx="3181663" cy="7778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6DB302-952A-5A86-0CC3-8609032F5155}"/>
                </a:ext>
              </a:extLst>
            </p:cNvPr>
            <p:cNvSpPr txBox="1"/>
            <p:nvPr/>
          </p:nvSpPr>
          <p:spPr>
            <a:xfrm>
              <a:off x="8998362" y="3195315"/>
              <a:ext cx="161412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Base address: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CEC14B-2FBC-FB2E-203D-7AF232EB379A}"/>
                </a:ext>
              </a:extLst>
            </p:cNvPr>
            <p:cNvSpPr txBox="1"/>
            <p:nvPr/>
          </p:nvSpPr>
          <p:spPr>
            <a:xfrm>
              <a:off x="10612482" y="3192157"/>
              <a:ext cx="1567543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b="0" i="0" u="none" strike="noStrike" baseline="0" dirty="0">
                  <a:latin typeface="Arial" panose="020B0604020202020204" pitchFamily="34" charset="0"/>
                </a:rPr>
                <a:t>0x4002 0C00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9C8A03-BE27-83F7-6FE8-8B75D487F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contrast="40000"/>
            </a:blip>
            <a:stretch>
              <a:fillRect/>
            </a:stretch>
          </p:blipFill>
          <p:spPr>
            <a:xfrm>
              <a:off x="8999547" y="3619469"/>
              <a:ext cx="2218959" cy="35054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EAD45-5FCF-B496-5ED2-679C3A19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8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Making output pin high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done by </a:t>
            </a:r>
            <a:r>
              <a:rPr lang="en-US" sz="2000" b="1" dirty="0">
                <a:latin typeface="+mj-lt"/>
              </a:rPr>
              <a:t>GPIO port output data register (</a:t>
            </a:r>
            <a:r>
              <a:rPr lang="en-US" sz="1800" b="1" i="0" u="none" strike="noStrike" baseline="0" dirty="0" err="1">
                <a:latin typeface="Arial,Bold"/>
              </a:rPr>
              <a:t>GPIOx_ODR</a:t>
            </a:r>
            <a:r>
              <a:rPr lang="en-US" sz="2000" b="1" dirty="0">
                <a:latin typeface="+mj-lt"/>
              </a:rPr>
              <a:t>) </a:t>
            </a:r>
            <a:r>
              <a:rPr lang="pl-PL" sz="1800" b="1" i="0" u="none" strike="noStrike" baseline="0" dirty="0">
                <a:latin typeface="Arial,Bold"/>
              </a:rPr>
              <a:t>(x = A..I/J/K)</a:t>
            </a:r>
            <a:endParaRPr lang="en-US" sz="2000" b="1" dirty="0">
              <a:latin typeface="+mj-lt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For example, </a:t>
            </a:r>
            <a:r>
              <a:rPr lang="en-US" sz="2000" b="1" dirty="0">
                <a:latin typeface="+mj-lt"/>
              </a:rPr>
              <a:t>PD12 </a:t>
            </a:r>
            <a:r>
              <a:rPr lang="en-US" sz="2000" dirty="0">
                <a:latin typeface="+mj-lt"/>
              </a:rPr>
              <a:t>can be made high by setting bit 12 as 1.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reserved bits (16-31) must be kept 0.</a:t>
            </a:r>
          </a:p>
          <a:p>
            <a:endParaRPr lang="en-US" sz="3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E04163-438F-63DC-DF83-D04E0DE384A1}"/>
              </a:ext>
            </a:extLst>
          </p:cNvPr>
          <p:cNvGrpSpPr/>
          <p:nvPr/>
        </p:nvGrpSpPr>
        <p:grpSpPr>
          <a:xfrm>
            <a:off x="713593" y="4370621"/>
            <a:ext cx="9464929" cy="2058169"/>
            <a:chOff x="713593" y="4370621"/>
            <a:chExt cx="9464929" cy="20581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6F78A61-11DF-CA3E-6C3F-482A7F14B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593" y="4808341"/>
              <a:ext cx="9464929" cy="16204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9400569-DBDD-BBDB-1B2D-35BC3AB41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-20000" contrast="40000"/>
            </a:blip>
            <a:stretch>
              <a:fillRect/>
            </a:stretch>
          </p:blipFill>
          <p:spPr>
            <a:xfrm>
              <a:off x="2463281" y="4370621"/>
              <a:ext cx="5966242" cy="34226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C81FCE-6324-9084-C60B-49A24546FEAD}"/>
              </a:ext>
            </a:extLst>
          </p:cNvPr>
          <p:cNvGrpSpPr/>
          <p:nvPr/>
        </p:nvGrpSpPr>
        <p:grpSpPr>
          <a:xfrm>
            <a:off x="8791845" y="3201487"/>
            <a:ext cx="3181663" cy="801173"/>
            <a:chOff x="8998362" y="3192157"/>
            <a:chExt cx="3181663" cy="8011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6DB302-952A-5A86-0CC3-8609032F5155}"/>
                </a:ext>
              </a:extLst>
            </p:cNvPr>
            <p:cNvSpPr txBox="1"/>
            <p:nvPr/>
          </p:nvSpPr>
          <p:spPr>
            <a:xfrm>
              <a:off x="8998362" y="3195315"/>
              <a:ext cx="161412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Base address: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CEC14B-2FBC-FB2E-203D-7AF232EB379A}"/>
                </a:ext>
              </a:extLst>
            </p:cNvPr>
            <p:cNvSpPr txBox="1"/>
            <p:nvPr/>
          </p:nvSpPr>
          <p:spPr>
            <a:xfrm>
              <a:off x="10612482" y="3192157"/>
              <a:ext cx="1567543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b="0" i="0" u="none" strike="noStrike" baseline="0" dirty="0">
                  <a:latin typeface="Arial" panose="020B0604020202020204" pitchFamily="34" charset="0"/>
                </a:rPr>
                <a:t>0x4002 0C00</a:t>
              </a:r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D29D44A-A5A1-6450-C9AD-650620AF7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-20000" contrast="40000"/>
            </a:blip>
            <a:stretch>
              <a:fillRect/>
            </a:stretch>
          </p:blipFill>
          <p:spPr>
            <a:xfrm>
              <a:off x="9017024" y="3604287"/>
              <a:ext cx="1974438" cy="38904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C47C54B-B02D-1A83-6763-2FB8C78F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19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14E61CE-37C6-96D7-2B59-0FCE6425B550}"/>
              </a:ext>
            </a:extLst>
          </p:cNvPr>
          <p:cNvGrpSpPr/>
          <p:nvPr/>
        </p:nvGrpSpPr>
        <p:grpSpPr>
          <a:xfrm>
            <a:off x="3455438" y="218995"/>
            <a:ext cx="5679019" cy="2190556"/>
            <a:chOff x="6096000" y="578498"/>
            <a:chExt cx="5679019" cy="21905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3A9B1A-4A93-0732-3CEC-EEDAA3DD5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20000"/>
            </a:blip>
            <a:stretch>
              <a:fillRect/>
            </a:stretch>
          </p:blipFill>
          <p:spPr>
            <a:xfrm>
              <a:off x="6096000" y="1045327"/>
              <a:ext cx="5679019" cy="172372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708284-8766-50C7-7220-C0ACCDAEBB47}"/>
                </a:ext>
              </a:extLst>
            </p:cNvPr>
            <p:cNvSpPr txBox="1"/>
            <p:nvPr/>
          </p:nvSpPr>
          <p:spPr>
            <a:xfrm>
              <a:off x="8220269" y="578498"/>
              <a:ext cx="1297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</a:rPr>
                <a:t>Macros in C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5C020F-8885-F903-977C-377280FC717F}"/>
              </a:ext>
            </a:extLst>
          </p:cNvPr>
          <p:cNvGrpSpPr/>
          <p:nvPr/>
        </p:nvGrpSpPr>
        <p:grpSpPr>
          <a:xfrm>
            <a:off x="2613152" y="2643495"/>
            <a:ext cx="7931020" cy="3892874"/>
            <a:chOff x="2613152" y="2643495"/>
            <a:chExt cx="7931020" cy="38928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86E452-BE80-8FCB-3060-8F6FA0C25BAA}"/>
                </a:ext>
              </a:extLst>
            </p:cNvPr>
            <p:cNvSpPr txBox="1"/>
            <p:nvPr/>
          </p:nvSpPr>
          <p:spPr>
            <a:xfrm>
              <a:off x="2613152" y="3212382"/>
              <a:ext cx="7931020" cy="332398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RCC_AHB1_ENR_OFFSET		0x30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RCC_BASE_ADDR		0x40023800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RCC_AHB1_ENR_ADDR		(RCC_BASE_ADDR+RCC_AHB1_ENR_OFFSET)</a:t>
              </a:r>
            </a:p>
            <a:p>
              <a:pPr algn="l"/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GPIOD_MODER_REG_OFFSET	0x00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GPIOD_BASE_ADDR		0x40020C00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GPIOD_MODER_REG_ADDR	(GPIOD_BASE_ADDR+GPIOD_MODER_REG_OFFSET)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GPIOD_ODR_OFFSET		0x14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7F0055"/>
                  </a:solidFill>
                  <a:latin typeface="Consolas" panose="020B0609020204030204" pitchFamily="49" charset="0"/>
                </a:rPr>
                <a:t>#define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GPIOD_ODR_ADDR		(GPIOD_BASE_ADDR+GPIOD_ODR_OFFSET)</a:t>
              </a:r>
              <a:endParaRPr lang="en-US" sz="1200" dirty="0"/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DC6AE39A-E1E7-2F1D-237B-CEECD6B6791C}"/>
                </a:ext>
              </a:extLst>
            </p:cNvPr>
            <p:cNvSpPr txBox="1">
              <a:spLocks/>
            </p:cNvSpPr>
            <p:nvPr/>
          </p:nvSpPr>
          <p:spPr>
            <a:xfrm>
              <a:off x="3779285" y="2643495"/>
              <a:ext cx="5756988" cy="4375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200" b="1" dirty="0">
                  <a:solidFill>
                    <a:schemeClr val="accent1">
                      <a:lumMod val="75000"/>
                    </a:schemeClr>
                  </a:solidFill>
                </a:rPr>
                <a:t>Our Code to Define Macros for Register Addresses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3E2AAE-5A11-EB59-89F0-12FFBED9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53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FF18224-E012-252C-AA94-905B125C2303}"/>
              </a:ext>
            </a:extLst>
          </p:cNvPr>
          <p:cNvGrpSpPr/>
          <p:nvPr/>
        </p:nvGrpSpPr>
        <p:grpSpPr>
          <a:xfrm>
            <a:off x="6960637" y="728149"/>
            <a:ext cx="5091403" cy="3228031"/>
            <a:chOff x="3069772" y="569528"/>
            <a:chExt cx="6407020" cy="365958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6510E5-91D1-68EB-ED31-A3F3E8D2F11A}"/>
                </a:ext>
              </a:extLst>
            </p:cNvPr>
            <p:cNvSpPr txBox="1"/>
            <p:nvPr/>
          </p:nvSpPr>
          <p:spPr>
            <a:xfrm>
              <a:off x="5620139" y="569528"/>
              <a:ext cx="1606172" cy="418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</a:rPr>
                <a:t>Pointer in C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EF73047-3437-EADC-F6AD-7F3E1EE2D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  <a14:imgEffect>
                        <a14:brightnessContrast bright="-2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069772" y="1055633"/>
              <a:ext cx="6407020" cy="3173476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292929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5B73D60-BF80-479E-DB8E-43DE8D618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" y="932997"/>
            <a:ext cx="6693764" cy="292987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9647CDF-E19E-35CE-EBC2-C191D6F04934}"/>
              </a:ext>
            </a:extLst>
          </p:cNvPr>
          <p:cNvGrpSpPr/>
          <p:nvPr/>
        </p:nvGrpSpPr>
        <p:grpSpPr>
          <a:xfrm>
            <a:off x="65314" y="5074785"/>
            <a:ext cx="6279503" cy="1700436"/>
            <a:chOff x="2845837" y="4927587"/>
            <a:chExt cx="6279503" cy="1700436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F65DD06E-EA5A-AA0D-C357-983D515AC6AA}"/>
                </a:ext>
              </a:extLst>
            </p:cNvPr>
            <p:cNvSpPr txBox="1">
              <a:spLocks/>
            </p:cNvSpPr>
            <p:nvPr/>
          </p:nvSpPr>
          <p:spPr>
            <a:xfrm>
              <a:off x="4333165" y="4927587"/>
              <a:ext cx="3525670" cy="4375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200" b="1" dirty="0">
                  <a:solidFill>
                    <a:schemeClr val="accent1">
                      <a:lumMod val="75000"/>
                    </a:schemeClr>
                  </a:solidFill>
                </a:rPr>
                <a:t>Our Code to Declare Pointers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473E40-DADF-DF15-B5AD-4287157DE582}"/>
                </a:ext>
              </a:extLst>
            </p:cNvPr>
            <p:cNvSpPr txBox="1"/>
            <p:nvPr/>
          </p:nvSpPr>
          <p:spPr>
            <a:xfrm>
              <a:off x="2845837" y="5458472"/>
              <a:ext cx="6279503" cy="116955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algn="l"/>
              <a:r>
                <a:rPr lang="en-US" sz="1400" dirty="0">
                  <a:solidFill>
                    <a:srgbClr val="005032"/>
                  </a:solidFill>
                  <a:latin typeface="Consolas" panose="020B0609020204030204" pitchFamily="49" charset="0"/>
                </a:rPr>
                <a:t>uint64_t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pGpiodModerReg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(</a:t>
              </a:r>
              <a:r>
                <a:rPr lang="en-US" sz="1400" dirty="0">
                  <a:solidFill>
                    <a:srgbClr val="005032"/>
                  </a:solidFill>
                  <a:latin typeface="Consolas" panose="020B0609020204030204" pitchFamily="49" charset="0"/>
                </a:rPr>
                <a:t>uint64_t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*) GPIOD_MODER_REG_ADDR;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005032"/>
                  </a:solidFill>
                  <a:latin typeface="Consolas" panose="020B0609020204030204" pitchFamily="49" charset="0"/>
                </a:rPr>
                <a:t>uint64_t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*pRccAhb1EnrReg = (</a:t>
              </a:r>
              <a:r>
                <a:rPr lang="en-US" sz="1400" dirty="0">
                  <a:solidFill>
                    <a:srgbClr val="005032"/>
                  </a:solidFill>
                  <a:latin typeface="Consolas" panose="020B0609020204030204" pitchFamily="49" charset="0"/>
                </a:rPr>
                <a:t>uint64_t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*) RCC_AHB1_ENR_ADDR;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005032"/>
                  </a:solidFill>
                  <a:latin typeface="Consolas" panose="020B0609020204030204" pitchFamily="49" charset="0"/>
                </a:rPr>
                <a:t>uint64_t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pGpiodOdrReg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(</a:t>
              </a:r>
              <a:r>
                <a:rPr lang="en-US" sz="1400" dirty="0">
                  <a:solidFill>
                    <a:srgbClr val="005032"/>
                  </a:solidFill>
                  <a:latin typeface="Consolas" panose="020B0609020204030204" pitchFamily="49" charset="0"/>
                </a:rPr>
                <a:t>uint64_t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*) GPIOD_ODR_ADDR;</a:t>
              </a:r>
              <a:endParaRPr lang="en-US" sz="1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5EA6E6-9A60-6BA1-B92C-2DDDAFEC3737}"/>
              </a:ext>
            </a:extLst>
          </p:cNvPr>
          <p:cNvGrpSpPr/>
          <p:nvPr/>
        </p:nvGrpSpPr>
        <p:grpSpPr>
          <a:xfrm>
            <a:off x="6420426" y="5084623"/>
            <a:ext cx="5706260" cy="1690598"/>
            <a:chOff x="6420426" y="5084623"/>
            <a:chExt cx="5706260" cy="1690598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D1945EB4-F871-A0C0-1DCD-AA4725F17528}"/>
                </a:ext>
              </a:extLst>
            </p:cNvPr>
            <p:cNvSpPr txBox="1">
              <a:spLocks/>
            </p:cNvSpPr>
            <p:nvPr/>
          </p:nvSpPr>
          <p:spPr>
            <a:xfrm>
              <a:off x="7422371" y="5084623"/>
              <a:ext cx="3702370" cy="4453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200" b="1" dirty="0">
                  <a:solidFill>
                    <a:schemeClr val="accent1">
                      <a:lumMod val="75000"/>
                    </a:schemeClr>
                  </a:solidFill>
                </a:rPr>
                <a:t>Our Code to Set Register Values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B8C70E-461A-A194-5F45-16F3E65B8219}"/>
                </a:ext>
              </a:extLst>
            </p:cNvPr>
            <p:cNvSpPr txBox="1"/>
            <p:nvPr/>
          </p:nvSpPr>
          <p:spPr>
            <a:xfrm>
              <a:off x="6420426" y="5605670"/>
              <a:ext cx="5706260" cy="116955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*pRccAhb1EnrReg=0x8;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pGpiodModerReg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=0x1000000;</a:t>
              </a:r>
            </a:p>
            <a:p>
              <a:pPr algn="l"/>
              <a:endParaRPr lang="en-US" sz="1400" dirty="0">
                <a:latin typeface="Consolas" panose="020B0609020204030204" pitchFamily="49" charset="0"/>
              </a:endParaRPr>
            </a:p>
            <a:p>
              <a:pPr algn="l"/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pGpiodOdrReg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=0x1000;</a:t>
              </a:r>
              <a:endParaRPr lang="en-US" sz="1400" dirty="0"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B06045-1C1B-3CB3-DD3D-02EA5CD3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14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4A3EE-7B7B-FCBD-4514-AED176B8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67473" cy="763879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Final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F64B1-B699-4D11-5FB6-FECF3F4B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17" y="1129004"/>
            <a:ext cx="10450991" cy="550992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CE64C-06F2-AE73-7643-B6B4FA98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4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31DB-66DE-284F-6D6A-62CF4274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Programming steps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0635FA8-AF12-8A46-52D8-9D4EA75CB2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7574077"/>
              </p:ext>
            </p:extLst>
          </p:nvPr>
        </p:nvGraphicFramePr>
        <p:xfrm>
          <a:off x="165877" y="2183364"/>
          <a:ext cx="5245878" cy="3657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5F2B51-959A-0C1A-BF34-DE585792D6D9}"/>
              </a:ext>
            </a:extLst>
          </p:cNvPr>
          <p:cNvSpPr txBox="1"/>
          <p:nvPr/>
        </p:nvSpPr>
        <p:spPr>
          <a:xfrm>
            <a:off x="5682343" y="2817845"/>
            <a:ext cx="6008914" cy="880369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Build project: </a:t>
            </a:r>
            <a:r>
              <a:rPr lang="en-US" dirty="0">
                <a:latin typeface="+mj-lt"/>
              </a:rPr>
              <a:t>To compile source code from one or more files and then link those files into an executable file.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633AF2-C7F5-215D-3160-B4E0165B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30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AA8C-599E-43F9-F313-1A29CD49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Tool chain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14CF-04B4-3D3B-6CCA-238A41CB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</a:rPr>
              <a:t>A tool-chain is a set of programs which are used to develop, compile, debug and monitor an application.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7887A-F93B-5860-8F66-8C7F067E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AA8C-599E-43F9-F313-1A29CD49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Cross compiler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14CF-04B4-3D3B-6CCA-238A41CB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</a:rPr>
              <a:t>Runs on one architecture but produces code for different architecture.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GNU ARM Cross-compiler </a:t>
            </a:r>
            <a:r>
              <a:rPr lang="en-US" dirty="0">
                <a:latin typeface="+mj-lt"/>
              </a:rPr>
              <a:t>converts code to executable and linkable file (.elf) or binary file (.bin, .hex).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A65B8-C252-1AEA-D434-C212C3FF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85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AA8C-599E-43F9-F313-1A29CD49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Debugger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14CF-04B4-3D3B-6CCA-238A41CB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+mj-lt"/>
              </a:rPr>
              <a:t>GDB, the GNU Project debugger</a:t>
            </a:r>
            <a:r>
              <a:rPr lang="en-US" dirty="0">
                <a:latin typeface="+mj-lt"/>
              </a:rPr>
              <a:t>, allows you to see what is going on `inside' another program while it executes -- or what another program was doing when it crashed.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</a:rPr>
              <a:t>GDB functions: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Start your program, specifying anything that might affect its behavior. 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Make your program stop on specified conditions. 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Examine what has happened, when your program has stopped. 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Change things in your program, so you can experiment with correcting the effects of one bug and go on to learn about another.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3E96C-F72C-7BD5-6E38-0CCC326D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7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4A4B-DBFC-BE9A-BE84-BD81B0AC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7" y="427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Task: Providing Input Signal from a Motion Sensor and Turn On All Built-in LEDs in Response to That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AC1F9-7BDA-2294-907C-8D7179B96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866265"/>
            <a:ext cx="11112759" cy="222987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Let’s provide an input signal from a motion sensor connected to the PE0 pin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and turn on the </a:t>
            </a:r>
            <a:r>
              <a:rPr lang="en-US" sz="2400" b="1" dirty="0">
                <a:solidFill>
                  <a:schemeClr val="accent6"/>
                </a:solidFill>
              </a:rPr>
              <a:t>Green LED (LD4)</a:t>
            </a:r>
            <a:r>
              <a:rPr lang="en-US" sz="2400" b="1" dirty="0">
                <a:solidFill>
                  <a:srgbClr val="7030A0"/>
                </a:solidFill>
              </a:rPr>
              <a:t>,</a:t>
            </a:r>
            <a:r>
              <a:rPr lang="en-US" sz="2400" b="1" dirty="0">
                <a:solidFill>
                  <a:schemeClr val="accent6"/>
                </a:solidFill>
              </a:rPr>
              <a:t> </a:t>
            </a:r>
            <a:r>
              <a:rPr lang="en-US" sz="2400" b="1" dirty="0">
                <a:solidFill>
                  <a:schemeClr val="accent2"/>
                </a:solidFill>
              </a:rPr>
              <a:t>Orange LED (LD3)</a:t>
            </a:r>
            <a:r>
              <a:rPr lang="en-US" sz="2400" b="1" dirty="0">
                <a:solidFill>
                  <a:srgbClr val="7030A0"/>
                </a:solidFill>
              </a:rPr>
              <a:t>,</a:t>
            </a:r>
            <a:r>
              <a:rPr lang="en-US" sz="2400" b="1" dirty="0">
                <a:solidFill>
                  <a:schemeClr val="accent6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Red LED (LD5)</a:t>
            </a:r>
            <a:r>
              <a:rPr lang="en-US" sz="2400" b="1" dirty="0">
                <a:solidFill>
                  <a:srgbClr val="7030A0"/>
                </a:solidFill>
              </a:rPr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and </a:t>
            </a:r>
            <a:r>
              <a:rPr lang="en-US" sz="2400" b="1" dirty="0">
                <a:solidFill>
                  <a:schemeClr val="accent1"/>
                </a:solidFill>
              </a:rPr>
              <a:t>Blue LED (LD6)  </a:t>
            </a:r>
            <a:r>
              <a:rPr lang="en-US" sz="2400" b="1" dirty="0">
                <a:solidFill>
                  <a:srgbClr val="7030A0"/>
                </a:solidFill>
              </a:rPr>
              <a:t>in response to that!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C40CD-4AE8-FC9D-C509-09F80AA7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84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Enabling the clock for GPIO ports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Bit 3</a:t>
            </a:r>
            <a:r>
              <a:rPr lang="en-US" sz="2000" b="1" dirty="0">
                <a:latin typeface="+mj-lt"/>
              </a:rPr>
              <a:t> (GPIODEN)</a:t>
            </a:r>
            <a:r>
              <a:rPr lang="en-US" sz="2000" dirty="0">
                <a:latin typeface="+mj-lt"/>
              </a:rPr>
              <a:t> of </a:t>
            </a:r>
            <a:r>
              <a:rPr lang="en-US" sz="2000" b="1" dirty="0">
                <a:latin typeface="+mj-lt"/>
              </a:rPr>
              <a:t>RCC AHB1 peripheral clock register (RCC_AHB1ENR)</a:t>
            </a:r>
            <a:r>
              <a:rPr lang="en-US" sz="2000" dirty="0">
                <a:latin typeface="+mj-lt"/>
              </a:rPr>
              <a:t> register enables/ disables IO port D clock.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Bit 4 </a:t>
            </a:r>
            <a:r>
              <a:rPr lang="en-US" sz="2000" b="1" dirty="0">
                <a:latin typeface="+mj-lt"/>
              </a:rPr>
              <a:t>(GPIOEEN) </a:t>
            </a:r>
            <a:r>
              <a:rPr lang="en-US" sz="2000" dirty="0">
                <a:latin typeface="+mj-lt"/>
              </a:rPr>
              <a:t>of </a:t>
            </a:r>
            <a:r>
              <a:rPr lang="en-US" sz="2000" b="1" dirty="0">
                <a:latin typeface="+mj-lt"/>
              </a:rPr>
              <a:t>RCC AHB1 peripheral clock register (RCC_AHB1ENR)</a:t>
            </a:r>
            <a:r>
              <a:rPr lang="en-US" sz="2000" dirty="0">
                <a:latin typeface="+mj-lt"/>
              </a:rPr>
              <a:t> register enables/ disables IO port E clock.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13C8E9-DEBB-A72D-02C7-C76002AE3CB7}"/>
              </a:ext>
            </a:extLst>
          </p:cNvPr>
          <p:cNvGrpSpPr/>
          <p:nvPr/>
        </p:nvGrpSpPr>
        <p:grpSpPr>
          <a:xfrm>
            <a:off x="831246" y="3664863"/>
            <a:ext cx="10279135" cy="3108136"/>
            <a:chOff x="831246" y="3664863"/>
            <a:chExt cx="10279135" cy="31081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AB9A37-A200-C6A7-986A-C198A0031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40000"/>
            </a:blip>
            <a:stretch>
              <a:fillRect/>
            </a:stretch>
          </p:blipFill>
          <p:spPr>
            <a:xfrm>
              <a:off x="831246" y="4211856"/>
              <a:ext cx="10279135" cy="256114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9F82F64-603C-84DC-9F3E-2CB4D93C6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-20000" contrast="40000"/>
            </a:blip>
            <a:stretch>
              <a:fillRect/>
            </a:stretch>
          </p:blipFill>
          <p:spPr>
            <a:xfrm>
              <a:off x="3674772" y="3664863"/>
              <a:ext cx="4842456" cy="32425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B448972-3913-3316-69BC-1C3493F2A18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8849066" y="3614105"/>
            <a:ext cx="2355202" cy="32425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2120F5-1126-1ACD-C404-CCFCA1325001}"/>
              </a:ext>
            </a:extLst>
          </p:cNvPr>
          <p:cNvSpPr txBox="1"/>
          <p:nvPr/>
        </p:nvSpPr>
        <p:spPr>
          <a:xfrm>
            <a:off x="8849066" y="319531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Base address: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593F9-A7F6-EF73-77E2-3D2E9BBB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7CE69-C7BE-9A89-60DA-B0B01B681A17}"/>
              </a:ext>
            </a:extLst>
          </p:cNvPr>
          <p:cNvSpPr txBox="1"/>
          <p:nvPr/>
        </p:nvSpPr>
        <p:spPr>
          <a:xfrm>
            <a:off x="10405965" y="3191566"/>
            <a:ext cx="1567543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0x4002 </a:t>
            </a:r>
            <a:r>
              <a:rPr lang="en-US" dirty="0">
                <a:latin typeface="Arial" panose="020B0604020202020204" pitchFamily="34" charset="0"/>
              </a:rPr>
              <a:t>38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19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Enabling the clock for window watchdog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Bit 11 </a:t>
            </a:r>
            <a:r>
              <a:rPr lang="en-US" sz="2000" b="1" dirty="0">
                <a:latin typeface="+mj-lt"/>
              </a:rPr>
              <a:t>(WWDGEN) </a:t>
            </a:r>
            <a:r>
              <a:rPr lang="en-US" sz="2000" dirty="0">
                <a:latin typeface="+mj-lt"/>
              </a:rPr>
              <a:t>of </a:t>
            </a:r>
            <a:r>
              <a:rPr lang="en-US" sz="2000" b="1" dirty="0">
                <a:latin typeface="+mj-lt"/>
              </a:rPr>
              <a:t>RCC APB1 peripheral clock enable register (RCC_APB1ENR)</a:t>
            </a:r>
            <a:r>
              <a:rPr lang="en-US" sz="2000" dirty="0">
                <a:latin typeface="+mj-lt"/>
              </a:rPr>
              <a:t> register enables/ disables window watchdog clock.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120F5-1126-1ACD-C404-CCFCA1325001}"/>
              </a:ext>
            </a:extLst>
          </p:cNvPr>
          <p:cNvSpPr txBox="1"/>
          <p:nvPr/>
        </p:nvSpPr>
        <p:spPr>
          <a:xfrm>
            <a:off x="8849066" y="319531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Base address: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593F9-A7F6-EF73-77E2-3D2E9BBB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7CE69-C7BE-9A89-60DA-B0B01B681A17}"/>
              </a:ext>
            </a:extLst>
          </p:cNvPr>
          <p:cNvSpPr txBox="1"/>
          <p:nvPr/>
        </p:nvSpPr>
        <p:spPr>
          <a:xfrm>
            <a:off x="10405965" y="3191566"/>
            <a:ext cx="1567543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0x4002 </a:t>
            </a:r>
            <a:r>
              <a:rPr lang="en-US" dirty="0">
                <a:latin typeface="Arial" panose="020B0604020202020204" pitchFamily="34" charset="0"/>
              </a:rPr>
              <a:t>38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00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5491D-2B27-AA17-9F97-B9DE8B2447D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619795" y="4109538"/>
            <a:ext cx="9591284" cy="2328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A1352E-2E45-C866-16A1-05EA0EE9501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2001782" y="3560898"/>
            <a:ext cx="5754016" cy="4225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B011DC-12FD-09B1-2A5E-F1988C2939F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8849066" y="3667613"/>
            <a:ext cx="2089251" cy="36933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5579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Setting I/O pins as input/ output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</a:rPr>
              <a:t>PE0 </a:t>
            </a:r>
            <a:r>
              <a:rPr lang="en-US" sz="2000" dirty="0">
                <a:latin typeface="+mj-lt"/>
              </a:rPr>
              <a:t>can be declared as an input pin by setting bit 1 and 0 of </a:t>
            </a:r>
            <a:r>
              <a:rPr lang="en-US" sz="2000" b="1" dirty="0">
                <a:latin typeface="+mj-lt"/>
              </a:rPr>
              <a:t>GPIOE_MODER </a:t>
            </a:r>
            <a:r>
              <a:rPr lang="en-US" sz="2000" dirty="0">
                <a:latin typeface="+mj-lt"/>
              </a:rPr>
              <a:t>register as 00 and </a:t>
            </a:r>
            <a:r>
              <a:rPr lang="en-US" sz="2000" b="1" dirty="0">
                <a:latin typeface="+mj-lt"/>
              </a:rPr>
              <a:t>PD12, PD13, PD14, PD15 </a:t>
            </a:r>
            <a:r>
              <a:rPr lang="en-US" sz="2000" dirty="0">
                <a:latin typeface="+mj-lt"/>
              </a:rPr>
              <a:t>can be declared as an output pin by setting bit 31 to 24 of </a:t>
            </a:r>
            <a:r>
              <a:rPr lang="en-US" sz="2000" b="1" dirty="0">
                <a:latin typeface="+mj-lt"/>
              </a:rPr>
              <a:t>GPIOD_MODER </a:t>
            </a:r>
            <a:r>
              <a:rPr lang="en-US" sz="2000" dirty="0">
                <a:latin typeface="+mj-lt"/>
              </a:rPr>
              <a:t>as 01010101.</a:t>
            </a:r>
          </a:p>
          <a:p>
            <a:endParaRPr lang="en-US" sz="3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263691-6CA6-4A35-C49E-E53B681D7F48}"/>
              </a:ext>
            </a:extLst>
          </p:cNvPr>
          <p:cNvGrpSpPr/>
          <p:nvPr/>
        </p:nvGrpSpPr>
        <p:grpSpPr>
          <a:xfrm>
            <a:off x="756655" y="3936625"/>
            <a:ext cx="10312427" cy="2650786"/>
            <a:chOff x="756655" y="3936625"/>
            <a:chExt cx="10312427" cy="265078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2F22AA-0D21-74BF-C7A8-16B01ED9D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40000"/>
            </a:blip>
            <a:stretch>
              <a:fillRect/>
            </a:stretch>
          </p:blipFill>
          <p:spPr>
            <a:xfrm>
              <a:off x="756655" y="4405338"/>
              <a:ext cx="10312427" cy="218207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7814E45-9750-4002-B630-D773C3F4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-20000" contrast="40000"/>
            </a:blip>
            <a:stretch>
              <a:fillRect/>
            </a:stretch>
          </p:blipFill>
          <p:spPr>
            <a:xfrm>
              <a:off x="3264224" y="3936625"/>
              <a:ext cx="4842456" cy="272374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D049D67-9275-C867-DE2A-381763D8EDBC}"/>
              </a:ext>
            </a:extLst>
          </p:cNvPr>
          <p:cNvGrpSpPr/>
          <p:nvPr/>
        </p:nvGrpSpPr>
        <p:grpSpPr>
          <a:xfrm>
            <a:off x="7837714" y="3192157"/>
            <a:ext cx="4258332" cy="777852"/>
            <a:chOff x="7921693" y="3192157"/>
            <a:chExt cx="4258332" cy="7778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6DB302-952A-5A86-0CC3-8609032F5155}"/>
                </a:ext>
              </a:extLst>
            </p:cNvPr>
            <p:cNvSpPr txBox="1"/>
            <p:nvPr/>
          </p:nvSpPr>
          <p:spPr>
            <a:xfrm>
              <a:off x="7921693" y="3193375"/>
              <a:ext cx="258815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Base address of port D: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CEC14B-2FBC-FB2E-203D-7AF232EB379A}"/>
                </a:ext>
              </a:extLst>
            </p:cNvPr>
            <p:cNvSpPr txBox="1"/>
            <p:nvPr/>
          </p:nvSpPr>
          <p:spPr>
            <a:xfrm>
              <a:off x="10612482" y="3192157"/>
              <a:ext cx="1567543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b="0" i="0" u="none" strike="noStrike" baseline="0" dirty="0">
                  <a:latin typeface="Arial" panose="020B0604020202020204" pitchFamily="34" charset="0"/>
                </a:rPr>
                <a:t>0x4002 0C00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9C8A03-BE27-83F7-6FE8-8B75D487F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contrast="40000"/>
            </a:blip>
            <a:stretch>
              <a:fillRect/>
            </a:stretch>
          </p:blipFill>
          <p:spPr>
            <a:xfrm>
              <a:off x="8999547" y="3619469"/>
              <a:ext cx="2218959" cy="35054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EAD45-5FCF-B496-5ED2-679C3A19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F2BF-12DD-9712-A351-A6C3F3063B4E}"/>
              </a:ext>
            </a:extLst>
          </p:cNvPr>
          <p:cNvSpPr txBox="1"/>
          <p:nvPr/>
        </p:nvSpPr>
        <p:spPr>
          <a:xfrm>
            <a:off x="7837714" y="2776453"/>
            <a:ext cx="2588152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Base address of port 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C8E57-C80A-458A-A610-1C12DC18E959}"/>
              </a:ext>
            </a:extLst>
          </p:cNvPr>
          <p:cNvSpPr txBox="1"/>
          <p:nvPr/>
        </p:nvSpPr>
        <p:spPr>
          <a:xfrm>
            <a:off x="10528502" y="2767117"/>
            <a:ext cx="1567543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0x4002 1000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262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Pull down input pin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Bit 31 to 0 of </a:t>
            </a:r>
            <a:r>
              <a:rPr lang="en-US" sz="2000" b="1" dirty="0">
                <a:latin typeface="+mj-lt"/>
              </a:rPr>
              <a:t>GPIOE_PUPDR </a:t>
            </a:r>
            <a:r>
              <a:rPr lang="en-US" sz="2000" dirty="0">
                <a:latin typeface="+mj-lt"/>
              </a:rPr>
              <a:t>register as 10101010101010101010101010101010.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EAD45-5FCF-B496-5ED2-679C3A19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F2BF-12DD-9712-A351-A6C3F3063B4E}"/>
              </a:ext>
            </a:extLst>
          </p:cNvPr>
          <p:cNvSpPr txBox="1"/>
          <p:nvPr/>
        </p:nvSpPr>
        <p:spPr>
          <a:xfrm>
            <a:off x="8915568" y="2776453"/>
            <a:ext cx="1510298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Base address: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C8E57-C80A-458A-A610-1C12DC18E959}"/>
              </a:ext>
            </a:extLst>
          </p:cNvPr>
          <p:cNvSpPr txBox="1"/>
          <p:nvPr/>
        </p:nvSpPr>
        <p:spPr>
          <a:xfrm>
            <a:off x="10481847" y="2785779"/>
            <a:ext cx="1567543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0x4002 1000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0FA8D8-27A8-8753-3C57-69CF80EE9FF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708495" y="4174868"/>
            <a:ext cx="11014642" cy="19180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A8A3C-7FAE-C472-2C43-262B5519C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95" y="3762082"/>
            <a:ext cx="5691630" cy="2885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BD2755-14FA-6168-5C87-23C87C696E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6400125" y="3762082"/>
            <a:ext cx="1333359" cy="2877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935BA2-A119-483A-5894-1D26F4300C7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8915568" y="3241698"/>
            <a:ext cx="2265614" cy="46119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9EA795-7241-59E0-4C01-EF20FD16216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-20000" contrast="40000"/>
          </a:blip>
          <a:stretch>
            <a:fillRect/>
          </a:stretch>
        </p:blipFill>
        <p:spPr>
          <a:xfrm>
            <a:off x="3276433" y="2009168"/>
            <a:ext cx="2424571" cy="98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09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Making output pins high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</a:rPr>
              <a:t>PD12, PD13, PD14, PD15 </a:t>
            </a:r>
            <a:r>
              <a:rPr lang="en-US" sz="2000" dirty="0">
                <a:latin typeface="+mj-lt"/>
              </a:rPr>
              <a:t>can be made high by setting bit 15 to 12 of </a:t>
            </a:r>
            <a:r>
              <a:rPr lang="en-US" sz="2000" b="1" dirty="0">
                <a:latin typeface="+mj-lt"/>
              </a:rPr>
              <a:t>GPIOD_ODR </a:t>
            </a:r>
            <a:r>
              <a:rPr lang="en-US" sz="2000" dirty="0">
                <a:latin typeface="+mj-lt"/>
              </a:rPr>
              <a:t>as 1111.</a:t>
            </a:r>
          </a:p>
          <a:p>
            <a:endParaRPr lang="en-US" sz="3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E04163-438F-63DC-DF83-D04E0DE384A1}"/>
              </a:ext>
            </a:extLst>
          </p:cNvPr>
          <p:cNvGrpSpPr/>
          <p:nvPr/>
        </p:nvGrpSpPr>
        <p:grpSpPr>
          <a:xfrm>
            <a:off x="713593" y="4370621"/>
            <a:ext cx="9464929" cy="2058169"/>
            <a:chOff x="713593" y="4370621"/>
            <a:chExt cx="9464929" cy="20581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6F78A61-11DF-CA3E-6C3F-482A7F14B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593" y="4808341"/>
              <a:ext cx="9464929" cy="16204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9400569-DBDD-BBDB-1B2D-35BC3AB41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-20000" contrast="40000"/>
            </a:blip>
            <a:stretch>
              <a:fillRect/>
            </a:stretch>
          </p:blipFill>
          <p:spPr>
            <a:xfrm>
              <a:off x="2463281" y="4370621"/>
              <a:ext cx="5966242" cy="34226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36DB302-952A-5A86-0CC3-8609032F5155}"/>
              </a:ext>
            </a:extLst>
          </p:cNvPr>
          <p:cNvSpPr txBox="1"/>
          <p:nvPr/>
        </p:nvSpPr>
        <p:spPr>
          <a:xfrm>
            <a:off x="8791845" y="320464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Base address: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EC14B-2FBC-FB2E-203D-7AF232EB379A}"/>
              </a:ext>
            </a:extLst>
          </p:cNvPr>
          <p:cNvSpPr txBox="1"/>
          <p:nvPr/>
        </p:nvSpPr>
        <p:spPr>
          <a:xfrm>
            <a:off x="10405965" y="3201487"/>
            <a:ext cx="1567543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0x4002 0C00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29D44A-A5A1-6450-C9AD-650620AF76A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8810507" y="3613617"/>
            <a:ext cx="1974438" cy="38904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C47C54B-B02D-1A83-6763-2FB8C78F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2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Providing software reset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done by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Window watchdog control register (WWDG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_CR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.</a:t>
            </a:r>
            <a:endParaRPr lang="en-US" sz="2000" b="1" dirty="0">
              <a:latin typeface="+mj-lt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A reset is triggered when the watchdog is enabled by making bit 7 (WDGA) of </a:t>
            </a:r>
            <a:r>
              <a:rPr lang="en-US" sz="2000" b="1" dirty="0"/>
              <a:t>WWDG_CR</a:t>
            </a:r>
            <a:r>
              <a:rPr lang="en-US" sz="2000" dirty="0">
                <a:latin typeface="+mj-lt"/>
              </a:rPr>
              <a:t> 1 and setting bit 6 to bit 0 as 1000000.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reserved bits (16-31) must be kept 0.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DB302-952A-5A86-0CC3-8609032F5155}"/>
              </a:ext>
            </a:extLst>
          </p:cNvPr>
          <p:cNvSpPr txBox="1"/>
          <p:nvPr/>
        </p:nvSpPr>
        <p:spPr>
          <a:xfrm>
            <a:off x="8791845" y="320464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Base address: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C47C54B-B02D-1A83-6763-2FB8C78F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E99B0-5E85-D707-3018-04A1E4BAFDF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593438" y="4520835"/>
            <a:ext cx="9931493" cy="1560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0B4D77-C792-B52C-302F-1DE86AE3638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3554581" y="4037177"/>
            <a:ext cx="3084304" cy="3693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385ED3-D29B-964C-6DD5-0D64A9B8965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8801176" y="3661633"/>
            <a:ext cx="1984658" cy="36933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FF96C9-190A-4DAE-0182-4AFE32580701}"/>
              </a:ext>
            </a:extLst>
          </p:cNvPr>
          <p:cNvSpPr txBox="1"/>
          <p:nvPr/>
        </p:nvSpPr>
        <p:spPr>
          <a:xfrm>
            <a:off x="10405965" y="3200314"/>
            <a:ext cx="1567543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0x4000 </a:t>
            </a:r>
            <a:r>
              <a:rPr lang="en-US" dirty="0">
                <a:latin typeface="Arial" panose="020B0604020202020204" pitchFamily="34" charset="0"/>
              </a:rPr>
              <a:t>2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C00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167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C70C4A-9F7B-E34F-755D-D144971F4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3249" y="1471274"/>
            <a:ext cx="5529277" cy="53867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CA4A4B-DBFC-BE9A-BE84-BD81B0AC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7" y="427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Task: Providing Interrupt Signal from Built-in Push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AC1F9-7BDA-2294-907C-8D7179B96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8327" y="1063833"/>
            <a:ext cx="6008915" cy="167910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Let’s provide an interrupt signal from the </a:t>
            </a:r>
            <a:r>
              <a:rPr lang="en-US" sz="2400" b="1" dirty="0">
                <a:solidFill>
                  <a:schemeClr val="accent1"/>
                </a:solidFill>
              </a:rPr>
              <a:t>B1 button (blue button in the development board) </a:t>
            </a:r>
            <a:r>
              <a:rPr lang="en-US" sz="2400" b="1" dirty="0">
                <a:solidFill>
                  <a:srgbClr val="7030A0"/>
                </a:solidFill>
              </a:rPr>
              <a:t>and turn on the </a:t>
            </a:r>
            <a:r>
              <a:rPr lang="en-US" sz="2400" b="1" dirty="0">
                <a:solidFill>
                  <a:schemeClr val="accent6"/>
                </a:solidFill>
              </a:rPr>
              <a:t>Green LED (LD4)</a:t>
            </a:r>
            <a:r>
              <a:rPr lang="en-US" sz="2400" b="1" dirty="0">
                <a:solidFill>
                  <a:srgbClr val="7030A0"/>
                </a:solidFill>
              </a:rPr>
              <a:t> in response to that!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C40CD-4AE8-FC9D-C509-09F80AA7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5910F-68A4-3A87-7BBA-3DB812FACB7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220824" y="1690688"/>
            <a:ext cx="5402425" cy="438114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1E5022-2255-722B-8F42-2DD16D7461BE}"/>
              </a:ext>
            </a:extLst>
          </p:cNvPr>
          <p:cNvCxnSpPr>
            <a:cxnSpLocks/>
          </p:cNvCxnSpPr>
          <p:nvPr/>
        </p:nvCxnSpPr>
        <p:spPr>
          <a:xfrm flipH="1" flipV="1">
            <a:off x="5542384" y="3183967"/>
            <a:ext cx="1978089" cy="47363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57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AA8C-599E-43F9-F313-1A29CD49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Vector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14CF-04B4-3D3B-6CCA-238A41CB8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1" y="1454605"/>
            <a:ext cx="12047377" cy="503078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+mj-lt"/>
              </a:rPr>
              <a:t>Exception</a:t>
            </a:r>
            <a:r>
              <a:rPr lang="en-US" sz="2400" dirty="0">
                <a:latin typeface="+mj-lt"/>
              </a:rPr>
              <a:t> and </a:t>
            </a:r>
            <a:r>
              <a:rPr lang="en-US" sz="2400" b="1" dirty="0">
                <a:latin typeface="+mj-lt"/>
              </a:rPr>
              <a:t>interrupt</a:t>
            </a:r>
            <a:r>
              <a:rPr lang="en-US" sz="2400" dirty="0">
                <a:latin typeface="+mj-lt"/>
              </a:rPr>
              <a:t> are unexpected events that alter program flow.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An exception occurs inside the processor during program execution while an interrupt occurs outside of the processor.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 When exception occurs, a hardware signal known as </a:t>
            </a:r>
            <a:r>
              <a:rPr lang="en-US" sz="2400" b="1" dirty="0">
                <a:latin typeface="+mj-lt"/>
              </a:rPr>
              <a:t>interrupt request (IRQ) </a:t>
            </a:r>
            <a:r>
              <a:rPr lang="en-US" sz="2400" dirty="0">
                <a:latin typeface="+mj-lt"/>
              </a:rPr>
              <a:t>is sent to the CPU to stop its current program execution and an </a:t>
            </a:r>
            <a:r>
              <a:rPr lang="en-US" sz="2400" b="1" dirty="0">
                <a:latin typeface="+mj-lt"/>
              </a:rPr>
              <a:t>exception handler </a:t>
            </a:r>
            <a:r>
              <a:rPr lang="en-US" sz="2400" dirty="0">
                <a:latin typeface="+mj-lt"/>
              </a:rPr>
              <a:t>(a function) is executed. Exception handlers are stored in ROM (Flash memory).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When interrupt occurs, </a:t>
            </a:r>
            <a:r>
              <a:rPr lang="en-US" sz="2400" b="1" dirty="0">
                <a:latin typeface="+mj-lt"/>
              </a:rPr>
              <a:t>Interrupt Service Routine (ISR)/ interrupt handler </a:t>
            </a:r>
            <a:r>
              <a:rPr lang="en-US" sz="2400" dirty="0">
                <a:latin typeface="+mj-lt"/>
              </a:rPr>
              <a:t>is executed. ISRs are stored in RAM.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The vector table shows memory addresses for different exception/ interrupt handlers. See Table 61 of the reference manual.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Exception handlers are defined in the </a:t>
            </a:r>
            <a:r>
              <a:rPr lang="en-US" sz="2400" b="1" dirty="0">
                <a:latin typeface="+mj-lt"/>
              </a:rPr>
              <a:t>startup file</a:t>
            </a:r>
            <a:r>
              <a:rPr lang="en-US" sz="2400" dirty="0">
                <a:latin typeface="+mj-lt"/>
              </a:rPr>
              <a:t>. Startup file is written in Assembly or C language.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7887A-F93B-5860-8F66-8C7F067E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48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F11AB4-6E76-B2F7-E323-A26E9BDD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28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0120C46-9A40-5F0A-3189-B02954DC8B46}"/>
              </a:ext>
            </a:extLst>
          </p:cNvPr>
          <p:cNvGrpSpPr/>
          <p:nvPr/>
        </p:nvGrpSpPr>
        <p:grpSpPr>
          <a:xfrm>
            <a:off x="157169" y="1"/>
            <a:ext cx="11939631" cy="6836224"/>
            <a:chOff x="157169" y="1"/>
            <a:chExt cx="11939631" cy="68362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EC6255-C345-9EAF-DE0E-8F2073983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40000"/>
            </a:blip>
            <a:stretch>
              <a:fillRect/>
            </a:stretch>
          </p:blipFill>
          <p:spPr>
            <a:xfrm>
              <a:off x="1474237" y="1"/>
              <a:ext cx="7063273" cy="6836224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D8E48EF-BBB2-C627-F122-7724791A3452}"/>
                </a:ext>
              </a:extLst>
            </p:cNvPr>
            <p:cNvGrpSpPr/>
            <p:nvPr/>
          </p:nvGrpSpPr>
          <p:grpSpPr>
            <a:xfrm>
              <a:off x="157169" y="111203"/>
              <a:ext cx="11939631" cy="6725022"/>
              <a:chOff x="157169" y="111203"/>
              <a:chExt cx="11939631" cy="6725022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F7A4EDC-5705-4C99-4257-234021E8FDD2}"/>
                  </a:ext>
                </a:extLst>
              </p:cNvPr>
              <p:cNvSpPr/>
              <p:nvPr/>
            </p:nvSpPr>
            <p:spPr>
              <a:xfrm>
                <a:off x="1763486" y="559837"/>
                <a:ext cx="261257" cy="1017036"/>
              </a:xfrm>
              <a:prstGeom prst="ellipse">
                <a:avLst/>
              </a:prstGeom>
              <a:solidFill>
                <a:schemeClr val="lt1">
                  <a:alpha val="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C309E0C-A889-0CC9-B5CE-3B219320C867}"/>
                  </a:ext>
                </a:extLst>
              </p:cNvPr>
              <p:cNvSpPr/>
              <p:nvPr/>
            </p:nvSpPr>
            <p:spPr>
              <a:xfrm rot="5400000">
                <a:off x="7583263" y="588412"/>
                <a:ext cx="261257" cy="1017036"/>
              </a:xfrm>
              <a:prstGeom prst="ellipse">
                <a:avLst/>
              </a:prstGeom>
              <a:solidFill>
                <a:schemeClr val="lt1">
                  <a:alpha val="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6C11BD7-04DC-048E-46BD-3E0121CD06B3}"/>
                  </a:ext>
                </a:extLst>
              </p:cNvPr>
              <p:cNvSpPr/>
              <p:nvPr/>
            </p:nvSpPr>
            <p:spPr>
              <a:xfrm rot="5400000">
                <a:off x="5745718" y="593370"/>
                <a:ext cx="261257" cy="1017036"/>
              </a:xfrm>
              <a:prstGeom prst="ellipse">
                <a:avLst/>
              </a:prstGeom>
              <a:solidFill>
                <a:schemeClr val="lt1">
                  <a:alpha val="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25C0B3D-4CB3-82AF-0154-0E1EC40256B2}"/>
                  </a:ext>
                </a:extLst>
              </p:cNvPr>
              <p:cNvSpPr/>
              <p:nvPr/>
            </p:nvSpPr>
            <p:spPr>
              <a:xfrm>
                <a:off x="2084082" y="588412"/>
                <a:ext cx="261257" cy="1017036"/>
              </a:xfrm>
              <a:prstGeom prst="ellipse">
                <a:avLst/>
              </a:prstGeom>
              <a:solidFill>
                <a:schemeClr val="lt1">
                  <a:alpha val="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6B95BCF-E8BE-A263-4649-8463CA429B85}"/>
                  </a:ext>
                </a:extLst>
              </p:cNvPr>
              <p:cNvSpPr/>
              <p:nvPr/>
            </p:nvSpPr>
            <p:spPr>
              <a:xfrm>
                <a:off x="1692094" y="1790113"/>
                <a:ext cx="404039" cy="3931920"/>
              </a:xfrm>
              <a:prstGeom prst="ellipse">
                <a:avLst/>
              </a:prstGeom>
              <a:solidFill>
                <a:schemeClr val="lt1">
                  <a:alpha val="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C415A07C-38F0-58D9-5532-1C8E05B172D9}"/>
                  </a:ext>
                </a:extLst>
              </p:cNvPr>
              <p:cNvGrpSpPr/>
              <p:nvPr/>
            </p:nvGrpSpPr>
            <p:grpSpPr>
              <a:xfrm>
                <a:off x="157169" y="111203"/>
                <a:ext cx="11939631" cy="6725022"/>
                <a:chOff x="157169" y="111203"/>
                <a:chExt cx="11939631" cy="6725022"/>
              </a:xfrm>
            </p:grpSpPr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775BA2EC-F7B6-7235-CD34-794D2F60E6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276350" y="744503"/>
                  <a:ext cx="487136" cy="31276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2ADCEE2D-8178-D20B-5F89-5343D81CB2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00928" y="1147957"/>
                  <a:ext cx="429161" cy="1649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1372C60C-2B64-277B-C6B0-9A1141FEF5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86163" y="428625"/>
                  <a:ext cx="2540596" cy="58481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6" name="Left Brace 25">
                  <a:extLst>
                    <a:ext uri="{FF2B5EF4-FFF2-40B4-BE49-F238E27FC236}">
                      <a16:creationId xmlns:a16="http://schemas.microsoft.com/office/drawing/2014/main" id="{505433F3-EC64-204A-279F-E71700182DDF}"/>
                    </a:ext>
                  </a:extLst>
                </p:cNvPr>
                <p:cNvSpPr/>
                <p:nvPr/>
              </p:nvSpPr>
              <p:spPr>
                <a:xfrm rot="10800000">
                  <a:off x="8630089" y="1847086"/>
                  <a:ext cx="702712" cy="3856078"/>
                </a:xfrm>
                <a:prstGeom prst="leftBrac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8" name="Right Brace 27">
                  <a:extLst>
                    <a:ext uri="{FF2B5EF4-FFF2-40B4-BE49-F238E27FC236}">
                      <a16:creationId xmlns:a16="http://schemas.microsoft.com/office/drawing/2014/main" id="{E2315908-3706-5302-61CA-45D7092271A1}"/>
                    </a:ext>
                  </a:extLst>
                </p:cNvPr>
                <p:cNvSpPr/>
                <p:nvPr/>
              </p:nvSpPr>
              <p:spPr>
                <a:xfrm>
                  <a:off x="8649139" y="5710043"/>
                  <a:ext cx="545841" cy="1126182"/>
                </a:xfrm>
                <a:prstGeom prst="rightBrac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AB0623E3-5238-A329-EE40-B3BA8BCE29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1031" y="1588596"/>
                  <a:ext cx="793772" cy="2300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92E7CAE8-E27C-C80B-2F1A-E9BC184FE2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1031" y="3254732"/>
                  <a:ext cx="3310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BCBF1B07-245A-5991-4080-5A9EB103058E}"/>
                    </a:ext>
                  </a:extLst>
                </p:cNvPr>
                <p:cNvGrpSpPr/>
                <p:nvPr/>
              </p:nvGrpSpPr>
              <p:grpSpPr>
                <a:xfrm>
                  <a:off x="157169" y="111203"/>
                  <a:ext cx="11939631" cy="6315063"/>
                  <a:chOff x="157169" y="111203"/>
                  <a:chExt cx="11939631" cy="6315063"/>
                </a:xfrm>
              </p:grpSpPr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4298A07-42FA-F817-19BB-5BAAF606A8B3}"/>
                      </a:ext>
                    </a:extLst>
                  </p:cNvPr>
                  <p:cNvSpPr txBox="1"/>
                  <p:nvPr/>
                </p:nvSpPr>
                <p:spPr>
                  <a:xfrm>
                    <a:off x="196691" y="337071"/>
                    <a:ext cx="1318951" cy="369332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IRQ number</a:t>
                    </a: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1B24D4B0-F7A3-DED8-11CC-83492D8AD0F0}"/>
                      </a:ext>
                    </a:extLst>
                  </p:cNvPr>
                  <p:cNvSpPr txBox="1"/>
                  <p:nvPr/>
                </p:nvSpPr>
                <p:spPr>
                  <a:xfrm>
                    <a:off x="8687239" y="1084941"/>
                    <a:ext cx="3409561" cy="646331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Address of exception/ interrupt handlers in the memory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842FC89-6627-5792-12B8-60D9EEFF313E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60" y="111203"/>
                    <a:ext cx="2098365" cy="923330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Description of exception/ interrupt handlers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FDFFF0E3-6703-28A9-7CD0-C976ED20648C}"/>
                      </a:ext>
                    </a:extLst>
                  </p:cNvPr>
                  <p:cNvSpPr txBox="1"/>
                  <p:nvPr/>
                </p:nvSpPr>
                <p:spPr>
                  <a:xfrm>
                    <a:off x="9425380" y="3590459"/>
                    <a:ext cx="1188339" cy="369332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Exceptions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BD1B0BA-D320-F3F8-44C0-A95F4D3CDC73}"/>
                      </a:ext>
                    </a:extLst>
                  </p:cNvPr>
                  <p:cNvSpPr txBox="1"/>
                  <p:nvPr/>
                </p:nvSpPr>
                <p:spPr>
                  <a:xfrm>
                    <a:off x="9322724" y="6056934"/>
                    <a:ext cx="1121589" cy="369332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Interrupts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5C723FA-4A94-E9BD-BC67-2638115CF721}"/>
                      </a:ext>
                    </a:extLst>
                  </p:cNvPr>
                  <p:cNvSpPr txBox="1"/>
                  <p:nvPr/>
                </p:nvSpPr>
                <p:spPr>
                  <a:xfrm>
                    <a:off x="157169" y="1084941"/>
                    <a:ext cx="1174705" cy="1323439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/>
                      <a:t>Priority of executing exception/ interrupt handlers</a:t>
                    </a: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5D1D96D-577B-BDBE-625C-39F5AE64983E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29" y="2818872"/>
                    <a:ext cx="1174705" cy="1938992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b="1" dirty="0"/>
                      <a:t>IRQ number of exceptions are decided by the ARM manufacturer, not by the MCU manufacturer. Hence, these are empty.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320635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F8E85C-35BF-BD7B-0EC7-1C349356C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5820580" y="6192281"/>
            <a:ext cx="6218768" cy="4434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A9018B-A189-17DC-04AF-941500B4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7322"/>
            <a:ext cx="7949682" cy="105463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External interrupt/ event line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23" y="1559442"/>
            <a:ext cx="7949681" cy="64928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All the 0 and 1 pins are connected to the external interrupt controller </a:t>
            </a:r>
            <a:r>
              <a:rPr lang="en-US" sz="2400" b="1" dirty="0">
                <a:latin typeface="+mj-lt"/>
              </a:rPr>
              <a:t>SYSFG_EXTICR1</a:t>
            </a:r>
            <a:r>
              <a:rPr lang="en-US" sz="2400" dirty="0">
                <a:latin typeface="+mj-lt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 external interrupt controller is connected to the </a:t>
            </a:r>
            <a:r>
              <a:rPr lang="en-US" sz="2400" b="1" dirty="0">
                <a:latin typeface="+mj-lt"/>
              </a:rPr>
              <a:t>APB2 bus</a:t>
            </a:r>
            <a:r>
              <a:rPr lang="en-US" sz="2400" dirty="0">
                <a:latin typeface="+mj-lt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This register is connected to </a:t>
            </a:r>
            <a:r>
              <a:rPr lang="en-US" sz="2400" b="1" dirty="0">
                <a:latin typeface="+mj-lt"/>
              </a:rPr>
              <a:t>Nested Vector Interrupt Controller (NVIC)</a:t>
            </a:r>
            <a:r>
              <a:rPr lang="en-US" sz="2400" dirty="0">
                <a:latin typeface="+mj-lt"/>
              </a:rPr>
              <a:t> of the CPU through 23 IRQ lines.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All the pin 0s are connect with NVIC through IRQ line </a:t>
            </a:r>
            <a:r>
              <a:rPr lang="en-US" sz="2400" b="1" dirty="0">
                <a:latin typeface="+mj-lt"/>
              </a:rPr>
              <a:t>EXTI0</a:t>
            </a:r>
            <a:r>
              <a:rPr lang="en-US" sz="2400" dirty="0">
                <a:latin typeface="+mj-lt"/>
              </a:rPr>
              <a:t>.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CE6C4-040C-43BD-43F9-5C3C0C22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CA7269-BB96-9076-0343-42852F45E21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8237096" y="116589"/>
            <a:ext cx="3954904" cy="60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7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CD54F-B64F-FDB7-7E58-CEF46760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30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524CE30-EBA3-4AD8-0675-50EE84C6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908" y="-62781"/>
            <a:ext cx="7949682" cy="47612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EXTI line interrupts in the vector table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F2D61D-B95B-DAC5-2362-467BE8A778C4}"/>
              </a:ext>
            </a:extLst>
          </p:cNvPr>
          <p:cNvGrpSpPr/>
          <p:nvPr/>
        </p:nvGrpSpPr>
        <p:grpSpPr>
          <a:xfrm>
            <a:off x="1610572" y="428765"/>
            <a:ext cx="8677059" cy="6416598"/>
            <a:chOff x="1610572" y="428765"/>
            <a:chExt cx="8677059" cy="64165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9CC1D9-5C7E-D160-7229-8A83B4EF8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40000"/>
            </a:blip>
            <a:stretch>
              <a:fillRect/>
            </a:stretch>
          </p:blipFill>
          <p:spPr>
            <a:xfrm>
              <a:off x="1610572" y="2102122"/>
              <a:ext cx="8677059" cy="16313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CEEDCE-969D-EFAE-80A1-975817C29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-20000" contrast="40000"/>
            </a:blip>
            <a:stretch>
              <a:fillRect/>
            </a:stretch>
          </p:blipFill>
          <p:spPr>
            <a:xfrm>
              <a:off x="1760685" y="3774335"/>
              <a:ext cx="8487700" cy="38331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4002C0-5946-2F48-FB59-E1A013B2E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-20000" contrast="40000"/>
            </a:blip>
            <a:stretch>
              <a:fillRect/>
            </a:stretch>
          </p:blipFill>
          <p:spPr>
            <a:xfrm>
              <a:off x="1732110" y="5676157"/>
              <a:ext cx="8530892" cy="55254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006964A-E2AC-1007-2E9B-7031774EA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-20000" contrast="40000"/>
            </a:blip>
            <a:stretch>
              <a:fillRect/>
            </a:stretch>
          </p:blipFill>
          <p:spPr>
            <a:xfrm>
              <a:off x="1760685" y="4163115"/>
              <a:ext cx="8450115" cy="147216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674CC1-864A-839B-BC09-C524D02D9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-20000" contrast="40000"/>
            </a:blip>
            <a:stretch>
              <a:fillRect/>
            </a:stretch>
          </p:blipFill>
          <p:spPr>
            <a:xfrm>
              <a:off x="1770210" y="6228701"/>
              <a:ext cx="8440590" cy="61666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F720397-8F0A-7A31-E947-DD9C2B277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-20000" contrast="40000"/>
            </a:blip>
            <a:stretch>
              <a:fillRect/>
            </a:stretch>
          </p:blipFill>
          <p:spPr>
            <a:xfrm>
              <a:off x="1663779" y="428765"/>
              <a:ext cx="8570647" cy="16858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0477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E8392-55D9-33E5-6102-27305B32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BF169-325C-E14E-1FFF-AB95ADE71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27" y="136525"/>
            <a:ext cx="8383073" cy="663481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57D26B-B731-3187-59B2-E9B83330D6FC}"/>
              </a:ext>
            </a:extLst>
          </p:cNvPr>
          <p:cNvCxnSpPr>
            <a:cxnSpLocks/>
          </p:cNvCxnSpPr>
          <p:nvPr/>
        </p:nvCxnSpPr>
        <p:spPr>
          <a:xfrm>
            <a:off x="7660433" y="5157897"/>
            <a:ext cx="17216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C1A296-EFC8-179B-8261-9058E607BF37}"/>
              </a:ext>
            </a:extLst>
          </p:cNvPr>
          <p:cNvSpPr txBox="1"/>
          <p:nvPr/>
        </p:nvSpPr>
        <p:spPr>
          <a:xfrm>
            <a:off x="9382125" y="4944767"/>
            <a:ext cx="2673026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Detects whether an input is rising or falling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C0C232-A077-091D-DC4A-E99750ADEBC4}"/>
              </a:ext>
            </a:extLst>
          </p:cNvPr>
          <p:cNvCxnSpPr>
            <a:cxnSpLocks/>
          </p:cNvCxnSpPr>
          <p:nvPr/>
        </p:nvCxnSpPr>
        <p:spPr>
          <a:xfrm flipV="1">
            <a:off x="4719543" y="1240971"/>
            <a:ext cx="4576857" cy="1426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7B11D5-7F1B-02A5-BD99-76AEA122E822}"/>
              </a:ext>
            </a:extLst>
          </p:cNvPr>
          <p:cNvSpPr txBox="1"/>
          <p:nvPr/>
        </p:nvSpPr>
        <p:spPr>
          <a:xfrm>
            <a:off x="9382125" y="954011"/>
            <a:ext cx="2673026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Controls interrupt delivery to the NVIC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88FD71-9EE8-A8E4-2A0E-E4DC66AD12DC}"/>
              </a:ext>
            </a:extLst>
          </p:cNvPr>
          <p:cNvCxnSpPr>
            <a:cxnSpLocks/>
          </p:cNvCxnSpPr>
          <p:nvPr/>
        </p:nvCxnSpPr>
        <p:spPr>
          <a:xfrm flipV="1">
            <a:off x="6610350" y="1972622"/>
            <a:ext cx="2765263" cy="6947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4AFC9D-9839-2C69-A5CB-6173AC8671CA}"/>
              </a:ext>
            </a:extLst>
          </p:cNvPr>
          <p:cNvSpPr txBox="1"/>
          <p:nvPr/>
        </p:nvSpPr>
        <p:spPr>
          <a:xfrm>
            <a:off x="9382125" y="1667158"/>
            <a:ext cx="2673026" cy="147732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Needs to configure these registers to select whether we want to detect rising of falling edge of the input using edge detect circuit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D86171-99AE-4F5D-8CAF-9A4AAD5766FE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7847044" y="2405822"/>
            <a:ext cx="1535081" cy="6442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4E0E77E-BF79-E1F4-CE90-A13A499D588B}"/>
              </a:ext>
            </a:extLst>
          </p:cNvPr>
          <p:cNvSpPr txBox="1"/>
          <p:nvPr/>
        </p:nvSpPr>
        <p:spPr>
          <a:xfrm>
            <a:off x="136849" y="1667158"/>
            <a:ext cx="2673026" cy="13849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Once interrupt is triggered, the CPU gets interrupt signal continuously even if the interrupt signal is no longer there. To stop the interrupt signal, this register must be cleared.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C7FD88-9754-93E0-5BD4-82121FE807EC}"/>
              </a:ext>
            </a:extLst>
          </p:cNvPr>
          <p:cNvCxnSpPr>
            <a:cxnSpLocks/>
          </p:cNvCxnSpPr>
          <p:nvPr/>
        </p:nvCxnSpPr>
        <p:spPr>
          <a:xfrm flipH="1" flipV="1">
            <a:off x="2816387" y="2320021"/>
            <a:ext cx="388678" cy="347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965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Enabling the clock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Clock for peripherals which are connected to APB2 bus (such as External Interrupt Controller) are enabled by </a:t>
            </a:r>
            <a:r>
              <a:rPr lang="en-US" sz="1800" b="1" dirty="0">
                <a:latin typeface="+mj-lt"/>
              </a:rPr>
              <a:t>RCC APB2 peripheral clock enable register (RCC_APB2ENR)</a:t>
            </a:r>
            <a:r>
              <a:rPr lang="en-US" sz="1800" dirty="0">
                <a:latin typeface="+mj-lt"/>
              </a:rPr>
              <a:t>.</a:t>
            </a:r>
            <a:r>
              <a:rPr lang="en-US" sz="1800" b="1" dirty="0">
                <a:latin typeface="+mj-lt"/>
              </a:rPr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For example, bit 14 of this register </a:t>
            </a:r>
            <a:r>
              <a:rPr lang="en-US" sz="1800" b="1" dirty="0">
                <a:latin typeface="+mj-lt"/>
              </a:rPr>
              <a:t>(SYSCFG EN) </a:t>
            </a:r>
            <a:r>
              <a:rPr lang="en-US" sz="1800" dirty="0">
                <a:latin typeface="+mj-lt"/>
              </a:rPr>
              <a:t>enables/ disables clock for System Configuration Controller: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The reserved bits must be kept 0.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7B97FC-3824-D189-D2F9-F1BB62185E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lum contrast="20000"/>
          </a:blip>
          <a:stretch>
            <a:fillRect/>
          </a:stretch>
        </p:blipFill>
        <p:spPr>
          <a:xfrm>
            <a:off x="10444524" y="3204646"/>
            <a:ext cx="1598180" cy="35542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2120F5-1126-1ACD-C404-CCFCA1325001}"/>
              </a:ext>
            </a:extLst>
          </p:cNvPr>
          <p:cNvSpPr txBox="1"/>
          <p:nvPr/>
        </p:nvSpPr>
        <p:spPr>
          <a:xfrm>
            <a:off x="8849066" y="319531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 address: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593F9-A7F6-EF73-77E2-3D2E9BBB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88E2BD-B70B-4665-B910-31045DB6B2D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22541E-374F-11B0-1235-F96019E3195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838200" y="4195947"/>
            <a:ext cx="10159239" cy="23429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403F8F-0609-3F6E-0317-0EE2CB23AA9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3427398" y="2742913"/>
            <a:ext cx="4146265" cy="4617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68781F-C6D5-AA03-02F0-FD253535F05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8849066" y="3627817"/>
            <a:ext cx="1931762" cy="35542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192CF2-685C-5472-8D23-97168FA2678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-20000" contrast="40000"/>
          </a:blip>
          <a:stretch>
            <a:fillRect/>
          </a:stretch>
        </p:blipFill>
        <p:spPr>
          <a:xfrm>
            <a:off x="3006887" y="3854457"/>
            <a:ext cx="5641138" cy="3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01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Configuring External Interrupt Controller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It is done by </a:t>
            </a:r>
            <a:r>
              <a:rPr lang="en-US" sz="1800" b="1" dirty="0">
                <a:latin typeface="+mj-lt"/>
              </a:rPr>
              <a:t>System configuration controller (SYSCFG).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To configure external interrupt controller SYSFG_EXTICR1,</a:t>
            </a:r>
            <a:r>
              <a:rPr lang="en-US" sz="1800" b="1" dirty="0">
                <a:latin typeface="+mj-lt"/>
              </a:rPr>
              <a:t> SYSCFG external interrupt configuration register 1 (SYSCFG_EXTICR1) </a:t>
            </a:r>
            <a:r>
              <a:rPr lang="en-US" sz="1800" dirty="0">
                <a:latin typeface="+mj-lt"/>
              </a:rPr>
              <a:t>is used.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For example, to select PA0 as the source of interrupt signal, the first 4 bits (bit 0 – bit 3) need to set 0000.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EAD45-5FCF-B496-5ED2-679C3A19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88E2BD-B70B-4665-B910-31045DB6B2D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D4906-2A0F-6E14-D787-A979D0ECF78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35436" y="5300920"/>
            <a:ext cx="10393758" cy="1623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32EAE9-AA3D-BACA-564B-B65538F0EA2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4447542" y="3176312"/>
            <a:ext cx="1084773" cy="1623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E4D969-EE7E-2AE5-1AA9-E33C265C53B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3343995" y="4760373"/>
            <a:ext cx="3992451" cy="47989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8352B3C-8413-28B5-777E-31A542BB8791}"/>
              </a:ext>
            </a:extLst>
          </p:cNvPr>
          <p:cNvGrpSpPr/>
          <p:nvPr/>
        </p:nvGrpSpPr>
        <p:grpSpPr>
          <a:xfrm>
            <a:off x="8610601" y="3644101"/>
            <a:ext cx="3362908" cy="1116271"/>
            <a:chOff x="9010337" y="3905359"/>
            <a:chExt cx="2916516" cy="83794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6DB302-952A-5A86-0CC3-8609032F5155}"/>
                </a:ext>
              </a:extLst>
            </p:cNvPr>
            <p:cNvSpPr txBox="1"/>
            <p:nvPr/>
          </p:nvSpPr>
          <p:spPr>
            <a:xfrm>
              <a:off x="9010337" y="3905359"/>
              <a:ext cx="161412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Base address: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858E615-C29E-0EAC-4136-83914F87A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10337" y="4400019"/>
              <a:ext cx="2130414" cy="34328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7ECA77F-42C4-EC08-7A32-F331C879C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637739" y="3912893"/>
              <a:ext cx="1289114" cy="36933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47055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Unmasking the Interrupt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done by </a:t>
            </a:r>
            <a:r>
              <a:rPr lang="en-US" sz="2000" b="1" dirty="0">
                <a:latin typeface="+mj-lt"/>
              </a:rPr>
              <a:t>Interrupt mask register (</a:t>
            </a:r>
            <a:r>
              <a:rPr lang="en-US" sz="1800" b="1" dirty="0">
                <a:latin typeface="Arial,Bold"/>
              </a:rPr>
              <a:t>EXTI</a:t>
            </a:r>
            <a:r>
              <a:rPr lang="en-US" sz="1800" b="1" i="0" u="none" strike="noStrike" baseline="0" dirty="0">
                <a:latin typeface="Arial,Bold"/>
              </a:rPr>
              <a:t>_IMR</a:t>
            </a:r>
            <a:r>
              <a:rPr lang="en-US" sz="2000" b="1" dirty="0">
                <a:latin typeface="+mj-lt"/>
              </a:rPr>
              <a:t>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For example, interrupt signal from EXTI0 can be unmasked by making first bit (bit 0) as 1.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+mj-lt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reserved bits (23-31) must be kept 0.</a:t>
            </a:r>
          </a:p>
          <a:p>
            <a:endParaRPr lang="en-US" sz="32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C47C54B-B02D-1A83-6763-2FB8C78F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88E2BD-B70B-4665-B910-31045DB6B2D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D90B3-DBDE-E71B-C070-33BDAE4ED36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85783" y="4401621"/>
            <a:ext cx="10399162" cy="2209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6B05F1-5A98-903B-F116-6CCB6DBD8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767" y="3928604"/>
            <a:ext cx="4350984" cy="3890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591A37-B3AE-92E6-45B4-92E09BE29B7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3246276" y="2425717"/>
            <a:ext cx="4078475" cy="571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6DB302-952A-5A86-0CC3-8609032F5155}"/>
              </a:ext>
            </a:extLst>
          </p:cNvPr>
          <p:cNvSpPr txBox="1"/>
          <p:nvPr/>
        </p:nvSpPr>
        <p:spPr>
          <a:xfrm>
            <a:off x="8791845" y="320464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 address: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1511E7-A4A2-E3C9-A293-B95786A41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1845" y="3681498"/>
            <a:ext cx="2510711" cy="49421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B7CD9B-3A0A-F5E2-9759-A917B61933D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422235" y="3199151"/>
            <a:ext cx="1448632" cy="38904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923518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0A12-C132-A948-A034-D6C22AF3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92" y="0"/>
            <a:ext cx="11504645" cy="66953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>
                <a:solidFill>
                  <a:schemeClr val="accent1"/>
                </a:solidFill>
              </a:rPr>
              <a:t>Detecting Rising Edge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done by </a:t>
            </a:r>
            <a:r>
              <a:rPr lang="en-US" sz="1800" b="1" i="0" u="none" strike="noStrike" baseline="0" dirty="0">
                <a:latin typeface="Arial,Bold"/>
              </a:rPr>
              <a:t>Rising trigger selection register (EXTI_RTSR).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For example, rising trigger of input line 0 for EXTI0 can be enabled by setting the first bit (bit 0) as 1.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+mj-lt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reserved bits (23-31) must be kept 0.</a:t>
            </a:r>
          </a:p>
          <a:p>
            <a:endParaRPr lang="en-US" sz="32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C47C54B-B02D-1A83-6763-2FB8C78F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88E2BD-B70B-4665-B910-31045DB6B2D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DB302-952A-5A86-0CC3-8609032F5155}"/>
              </a:ext>
            </a:extLst>
          </p:cNvPr>
          <p:cNvSpPr txBox="1"/>
          <p:nvPr/>
        </p:nvSpPr>
        <p:spPr>
          <a:xfrm>
            <a:off x="8791845" y="3204645"/>
            <a:ext cx="1614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 address: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B7CD9B-3A0A-F5E2-9759-A917B61933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422235" y="3199151"/>
            <a:ext cx="1448632" cy="38904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752FB8-5795-E0D6-50A7-154095754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991" y="3634847"/>
            <a:ext cx="2366102" cy="38904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8DAF73-4FB5-26DC-9D07-0F8AD2F3AB2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613640" y="4505215"/>
            <a:ext cx="10092396" cy="2009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14D3D-A36E-47B9-497E-45EB95940C8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2823975" y="4062575"/>
            <a:ext cx="4923075" cy="389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9F2A85-2DD8-78B6-243E-7D910BEE962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-20000" contrast="40000"/>
          </a:blip>
          <a:stretch>
            <a:fillRect/>
          </a:stretch>
        </p:blipFill>
        <p:spPr>
          <a:xfrm>
            <a:off x="2595457" y="2352785"/>
            <a:ext cx="5662136" cy="47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62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07FD3-9853-852A-79EC-F113E642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1AC5FE-1221-3C0E-5C78-4F6451995F06}"/>
              </a:ext>
            </a:extLst>
          </p:cNvPr>
          <p:cNvGrpSpPr/>
          <p:nvPr/>
        </p:nvGrpSpPr>
        <p:grpSpPr>
          <a:xfrm>
            <a:off x="7607813" y="1889240"/>
            <a:ext cx="3971475" cy="4278295"/>
            <a:chOff x="8158320" y="3671388"/>
            <a:chExt cx="3195480" cy="312129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6E7A803-5C16-AA60-C0B6-5B1CD681F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8320" y="4082501"/>
              <a:ext cx="3195480" cy="271018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3C4C56-996D-923F-B98F-F044B9A36644}"/>
                </a:ext>
              </a:extLst>
            </p:cNvPr>
            <p:cNvSpPr txBox="1"/>
            <p:nvPr/>
          </p:nvSpPr>
          <p:spPr>
            <a:xfrm>
              <a:off x="8514125" y="3671388"/>
              <a:ext cx="24213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</a:rPr>
                <a:t>Bitwise operators in C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F11AB4-6E76-B2F7-E323-A26E9BDD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E2BD-B70B-4665-B910-31045DB6B2D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6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2307</Words>
  <Application>Microsoft Office PowerPoint</Application>
  <PresentationFormat>Widescreen</PresentationFormat>
  <Paragraphs>229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Arial,Bold</vt:lpstr>
      <vt:lpstr>Calibri</vt:lpstr>
      <vt:lpstr>Calibri Light</vt:lpstr>
      <vt:lpstr>Consolas</vt:lpstr>
      <vt:lpstr>Wingdings</vt:lpstr>
      <vt:lpstr>Office Theme</vt:lpstr>
      <vt:lpstr>STM32 Development Board Basics</vt:lpstr>
      <vt:lpstr>STM32F407G Discovery Board Features</vt:lpstr>
      <vt:lpstr>PowerPoint Presentation</vt:lpstr>
      <vt:lpstr>PowerPoint Presentation</vt:lpstr>
      <vt:lpstr>Flash memory addresses</vt:lpstr>
      <vt:lpstr>Memory map</vt:lpstr>
      <vt:lpstr>Clocks</vt:lpstr>
      <vt:lpstr>Task: Turning On Built-in LEDs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Code</vt:lpstr>
      <vt:lpstr>Programming steps</vt:lpstr>
      <vt:lpstr>Tool chain</vt:lpstr>
      <vt:lpstr>Cross compiler</vt:lpstr>
      <vt:lpstr>Debugger</vt:lpstr>
      <vt:lpstr>Task: Providing Input Signal from a Motion Sensor and Turn On All Built-in LEDs in Response to That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Task: Providing Interrupt Signal from Built-in Push Button</vt:lpstr>
      <vt:lpstr>Vector table</vt:lpstr>
      <vt:lpstr>PowerPoint Presentation</vt:lpstr>
      <vt:lpstr>External interrupt/ event line mapping</vt:lpstr>
      <vt:lpstr>EXTI line interrupts in the vector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SHUGATA AHMED</dc:creator>
  <cp:lastModifiedBy>SHUGATA AHMED</cp:lastModifiedBy>
  <cp:revision>131</cp:revision>
  <dcterms:created xsi:type="dcterms:W3CDTF">2023-02-04T04:37:32Z</dcterms:created>
  <dcterms:modified xsi:type="dcterms:W3CDTF">2023-03-21T16:58:51Z</dcterms:modified>
</cp:coreProperties>
</file>